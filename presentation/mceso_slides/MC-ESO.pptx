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1F242E"/>
                </a:solidFill>
                <a:latin typeface="Helvetica"/>
              </a:rPr>
              <a:t>MC-ESO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F242E"/>
                </a:solidFill>
                <a:latin typeface="Helvetica"/>
              </a:rPr>
              <a:t>Multi-Channel Epidemic Spread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576"/>
                </a:solidFill>
                <a:latin typeface="Helvetica"/>
              </a:rPr>
              <a:t>A population-based black-box optimizer inspired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576"/>
                </a:solidFill>
                <a:latin typeface="Helvetica"/>
              </a:rPr>
              <a:t>multi-route epidemic transmission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42E"/>
                </a:solidFill>
                <a:latin typeface="Helvetica"/>
              </a:rPr>
              <a:t>Kosei Matsuzaki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Outline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05840" y="16916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Purpose &amp;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Proposed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74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A6576"/>
                </a:solidFill>
                <a:latin typeface="Helvetica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257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A6576"/>
                </a:solidFill>
                <a:latin typeface="Helvetica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The shared weakness of existing methods, and what motivated this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4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Black-box functions come in many flavours of hard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03-RastriginSep_landscape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422" y="1234440"/>
            <a:ext cx="4359929" cy="2368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247" y="360273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42E"/>
                </a:solidFill>
                <a:latin typeface="Helvetica"/>
              </a:rPr>
              <a:t>Multimodal — many local optima</a:t>
            </a:r>
          </a:p>
        </p:txBody>
      </p:sp>
      <p:pic>
        <p:nvPicPr>
          <p:cNvPr id="8" name="Picture 7" descr="F08-Rosenbrock_landscape__1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42" y="1234440"/>
            <a:ext cx="4359929" cy="2368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70167" y="3602736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42E"/>
                </a:solidFill>
                <a:latin typeface="Helvetica"/>
              </a:rPr>
              <a:t>Narrow curved valley</a:t>
            </a:r>
          </a:p>
        </p:txBody>
      </p:sp>
      <p:pic>
        <p:nvPicPr>
          <p:cNvPr id="10" name="Picture 9" descr="F10-EllipsoidalRot_landscape__18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422" y="4041648"/>
            <a:ext cx="4359929" cy="23682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5247" y="6409944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42E"/>
                </a:solidFill>
                <a:latin typeface="Helvetica"/>
              </a:rPr>
              <a:t>Ill-conditioned &amp; rotated</a:t>
            </a:r>
          </a:p>
        </p:txBody>
      </p:sp>
      <p:pic>
        <p:nvPicPr>
          <p:cNvPr id="12" name="Picture 11" descr="F12-BentCigar_landscape__18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42" y="4041648"/>
            <a:ext cx="4359929" cy="2368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70167" y="6409944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42E"/>
                </a:solidFill>
                <a:latin typeface="Helvetica"/>
              </a:rPr>
              <a:t>Extreme anisotropy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5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Every existing method has a class of problems it can't solve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8007" y="1325880"/>
            <a:ext cx="5440680" cy="242316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8007" y="1325880"/>
            <a:ext cx="54406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13258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CMA-ES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19659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Gets trapped in local optima on multimodal landscapes</a:t>
            </a:r>
          </a:p>
        </p:txBody>
      </p:sp>
      <p:pic>
        <p:nvPicPr>
          <p:cNvPr id="10" name="Picture 9" descr="F03-RastriginSep_landscape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651" y="2286000"/>
            <a:ext cx="2693392" cy="14630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33007" y="1325880"/>
            <a:ext cx="5440680" cy="242316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325880"/>
            <a:ext cx="54406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13258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196596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Struggles when the problem is strongly anisotropic</a:t>
            </a:r>
          </a:p>
        </p:txBody>
      </p:sp>
      <p:pic>
        <p:nvPicPr>
          <p:cNvPr id="15" name="Picture 14" descr="F12-BentCigar_landscape__1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651" y="2286000"/>
            <a:ext cx="2693392" cy="1463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18007" y="3977640"/>
            <a:ext cx="5440680" cy="242316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007" y="3977640"/>
            <a:ext cx="54406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327" y="3977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PSO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87" y="46177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Stagnates on narrow valleys</a:t>
            </a:r>
          </a:p>
        </p:txBody>
      </p:sp>
      <p:pic>
        <p:nvPicPr>
          <p:cNvPr id="20" name="Picture 19" descr="F08-Rosenbrock_landscape__18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651" y="4937760"/>
            <a:ext cx="2693392" cy="146304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233007" y="3977640"/>
            <a:ext cx="5440680" cy="242316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977640"/>
            <a:ext cx="54406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39776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SaVOA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5887" y="4617720"/>
            <a:ext cx="5074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Single channel — can't both escape AND refine</a:t>
            </a:r>
          </a:p>
        </p:txBody>
      </p:sp>
      <p:pic>
        <p:nvPicPr>
          <p:cNvPr id="25" name="Picture 24" descr="F10-EllipsoidalRot_landscape__18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651" y="4937760"/>
            <a:ext cx="2693392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6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 —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Epidemic spread and optimization share the same 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554480"/>
            <a:ext cx="33832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Epidemic spread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985455" y="1554480"/>
            <a:ext cx="33832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5455" y="1554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"/>
              </a:rPr>
              <a:t>Optimization</a:t>
            </a:r>
          </a:p>
        </p:txBody>
      </p:sp>
      <p:pic>
        <p:nvPicPr>
          <p:cNvPr id="10" name="Picture 9" descr="analogy_epidemic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3383280" cy="3383280"/>
          </a:xfrm>
          <a:prstGeom prst="rect">
            <a:avLst/>
          </a:prstGeom>
        </p:spPr>
      </p:pic>
      <p:pic>
        <p:nvPicPr>
          <p:cNvPr id="11" name="Picture 10" descr="analogy_optimization__1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455" y="2103120"/>
            <a:ext cx="3383280" cy="3383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434840" y="1554480"/>
            <a:ext cx="3322015" cy="12192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Viral particle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2164080.0"/>
            <a:ext cx="2956255" cy="0.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216408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Sample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910840"/>
            <a:ext cx="3322015" cy="12192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91084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Host-density 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17720" y="3520440.0"/>
            <a:ext cx="2956255" cy="0.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34840" y="352044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Objective landscape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4267200"/>
            <a:ext cx="3322015" cy="12192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426720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Outbreak in dense area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4876800.0"/>
            <a:ext cx="2956255" cy="0.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34840" y="4876800"/>
            <a:ext cx="3322015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Finding the optimum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Helvetica"/>
              </a:rPr>
              <a:t>→ Borrow how an epidemic concentrates on dense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Purpose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What we ask,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8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 — Purpose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Goal &amp; contributions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45920"/>
            <a:ext cx="11064240" cy="15544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242E"/>
                </a:solidFill>
                <a:latin typeface="Helvetica"/>
              </a:rPr>
              <a:t>Build a search method that performs reasonably on every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0392B"/>
                </a:solidFill>
                <a:latin typeface="Helvetica"/>
              </a:rPr>
              <a:t>Novelty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8404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First metaheuristic to combine multiple transmission routes (epidemic-inspired)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0392B"/>
                </a:solidFill>
                <a:latin typeface="Helvetica"/>
              </a:rPr>
              <a:t>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617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Channel mixing + population control + step-size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0392B"/>
                </a:solidFill>
                <a:latin typeface="Helvetica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39496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High success rate across the BBOB benchmark — see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9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 — Purpose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Result preview — overall and per-category SR@1e-4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576"/>
                </a:solidFill>
                <a:latin typeface="Helvetica"/>
              </a:rPr>
              <a:t>26 BBOB functions × 10 runs each — higher = solves more functions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2013143" cy="1005840"/>
          </a:xfrm>
          <a:prstGeom prst="rect">
            <a:avLst/>
          </a:prstGeom>
          <a:solidFill>
            <a:srgbClr val="E7A8A2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013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Helvetica"/>
              </a:rPr>
              <a:t>MC-ESO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013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0392B"/>
                </a:solidFill>
                <a:latin typeface="Helvetica"/>
              </a:rPr>
              <a:t>91.9%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4683" y="1691640"/>
            <a:ext cx="2013143" cy="100584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4683" y="1783080"/>
            <a:ext cx="2013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42E"/>
                </a:solidFill>
                <a:latin typeface="Helvetica"/>
              </a:rPr>
              <a:t>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4683" y="2103120"/>
            <a:ext cx="2013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42E"/>
                </a:solidFill>
                <a:latin typeface="Helvetica"/>
              </a:rPr>
              <a:t>91.9%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2126" y="1691640"/>
            <a:ext cx="2013143" cy="100584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2126" y="1783080"/>
            <a:ext cx="2013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42E"/>
                </a:solidFill>
                <a:latin typeface="Helvetica"/>
              </a:rPr>
              <a:t>PSO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2126" y="2103120"/>
            <a:ext cx="2013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42E"/>
                </a:solidFill>
                <a:latin typeface="Helvetica"/>
              </a:rPr>
              <a:t>73.1%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9569" y="1691640"/>
            <a:ext cx="2013143" cy="100584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569" y="1783080"/>
            <a:ext cx="2013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42E"/>
                </a:solidFill>
                <a:latin typeface="Helvetica"/>
              </a:rPr>
              <a:t>SaVOA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569" y="2103120"/>
            <a:ext cx="2013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42E"/>
                </a:solidFill>
                <a:latin typeface="Helvetica"/>
              </a:rPr>
              <a:t>73.1%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7012" y="1691640"/>
            <a:ext cx="2013143" cy="100584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7012" y="1783080"/>
            <a:ext cx="2013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42E"/>
                </a:solidFill>
                <a:latin typeface="Helvetica"/>
              </a:rPr>
              <a:t>CMA-ES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7012" y="2103120"/>
            <a:ext cx="2013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42E"/>
                </a:solidFill>
                <a:latin typeface="Helvetica"/>
              </a:rPr>
              <a:t>71.2%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11094415" cy="45720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A6576"/>
                </a:solidFill>
                <a:latin typeface="Helvetica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017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Helvetica"/>
              </a:rPr>
              <a:t>MC-ESO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3171" y="3017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42E"/>
                </a:solidFill>
                <a:latin typeface="Helvetica"/>
              </a:rPr>
              <a:t>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3142" y="3017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42E"/>
                </a:solidFill>
                <a:latin typeface="Helvetica"/>
              </a:rPr>
              <a:t>PSO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113" y="3017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42E"/>
                </a:solidFill>
                <a:latin typeface="Helvetica"/>
              </a:rPr>
              <a:t>SaVOA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3084" y="3017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42E"/>
                </a:solidFill>
                <a:latin typeface="Helvetica"/>
              </a:rPr>
              <a:t>CMA-ES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4747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Separable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4747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3171" y="34747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3142" y="34747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98%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113" y="34747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82%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3084" y="34747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72%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Moderate cond.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9319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98%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3171" y="39319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95%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3142" y="39319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113" y="39319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3084" y="39319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93%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Ill-conditioned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3891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94%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3171" y="43891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3142" y="43891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40%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3113" y="43891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52%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3084" y="43891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8463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Multimodal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8463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92%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3171" y="48463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98%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3142" y="48463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80%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83113" y="48463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68%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63084" y="48463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44%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53035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Weak structure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303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Helvetica"/>
              </a:rPr>
              <a:t>74%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3171" y="5303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66%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3142" y="5303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42%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3113" y="5303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58%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63084" y="5303520"/>
            <a:ext cx="177997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40%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0392B"/>
                </a:solidFill>
                <a:latin typeface="Helvetica"/>
              </a:rPr>
              <a:t>→ MC-ESO is the only method that stays ≥ 74% in every 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MC-ESO — generation flow, three channels, three population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11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One generation: 5 steps, each with its own innovation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630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392B"/>
                </a:solidFill>
                <a:latin typeface="Helvetic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Spawn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536192"/>
            <a:ext cx="3017520" cy="548640"/>
          </a:xfrm>
          <a:prstGeom prst="rect">
            <a:avLst/>
          </a:prstGeom>
          <a:solidFill>
            <a:srgbClr val="E7A8A2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361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Three transmission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42E"/>
                </a:solidFill>
                <a:latin typeface="Helvetica"/>
              </a:rPr>
              <a:t>Contact / Droplet / Airborne in parallel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11094415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5A6576"/>
                </a:solidFill>
                <a:latin typeface="Helvetic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Evaluate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2450592"/>
            <a:ext cx="3017520" cy="548640"/>
          </a:xfrm>
          <a:prstGeom prst="rect">
            <a:avLst/>
          </a:prstGeom>
          <a:noFill/>
          <a:ln w="19050">
            <a:solidFill>
              <a:srgbClr val="5A6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4505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(no new mechanism)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3774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42E"/>
                </a:solidFill>
                <a:latin typeface="Helvetica"/>
              </a:rPr>
              <a:t>Fitness call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392B"/>
                </a:solidFill>
                <a:latin typeface="Helvetic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918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Update strain pool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364992"/>
            <a:ext cx="3017520" cy="548640"/>
          </a:xfrm>
          <a:prstGeom prst="rect">
            <a:avLst/>
          </a:prstGeom>
          <a:solidFill>
            <a:srgbClr val="E7A8A2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3649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Strain coexistence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918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42E"/>
                </a:solidFill>
                <a:latin typeface="Helvetica"/>
              </a:rPr>
              <a:t>Keep up to 6 spatially-separated elites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11094415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392B"/>
                </a:solidFill>
                <a:latin typeface="Helvetic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062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Select population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4279392"/>
            <a:ext cx="3017520" cy="548640"/>
          </a:xfrm>
          <a:prstGeom prst="rect">
            <a:avLst/>
          </a:prstGeom>
          <a:solidFill>
            <a:srgbClr val="E7A8A2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42793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Host 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42062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42E"/>
                </a:solidFill>
                <a:latin typeface="Helvetica"/>
              </a:rPr>
              <a:t>μ+λ greedy with parent 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392B"/>
                </a:solidFill>
                <a:latin typeface="Helvetic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2064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Restart?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5193792"/>
            <a:ext cx="3017520" cy="548640"/>
          </a:xfrm>
          <a:prstGeom prst="rect">
            <a:avLst/>
          </a:prstGeom>
          <a:solidFill>
            <a:srgbClr val="E7A8A2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519379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Spillover + σ adaptation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120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42E"/>
                </a:solidFill>
                <a:latin typeface="Helvetica"/>
              </a:rPr>
              <a:t>Escalating re-seed when stagnated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→ The next slides detail each innovation (rows 1, 3, 4, 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12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Three transmission channels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8047" y="1280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E86AB"/>
                </a:solidFill>
                <a:latin typeface="Helvetica"/>
              </a:rPr>
              <a:t>Close-contact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1737360"/>
            <a:ext cx="1005840" cy="2743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17373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"/>
              </a:rPr>
              <a:t>p = 30 %</a:t>
            </a:r>
          </a:p>
        </p:txBody>
      </p:sp>
      <p:pic>
        <p:nvPicPr>
          <p:cNvPr id="9" name="Picture 8" descr="channel_contact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2148840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047" y="54864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Mimics: Person-to-person touch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58521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42E"/>
                </a:solidFill>
                <a:latin typeface="Helvetica"/>
              </a:rPr>
              <a:t>Spawn near the source — exploit the local basin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927" y="1280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07A5F"/>
                </a:solidFill>
                <a:latin typeface="Helvetica"/>
              </a:rPr>
              <a:t>Droplet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2927" y="1737360"/>
            <a:ext cx="1005840" cy="27432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2927" y="17373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"/>
              </a:rPr>
              <a:t>p = 40 %</a:t>
            </a:r>
          </a:p>
        </p:txBody>
      </p:sp>
      <p:pic>
        <p:nvPicPr>
          <p:cNvPr id="15" name="Picture 14" descr="channel_droplet__1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2148840"/>
            <a:ext cx="3291840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9927" y="54864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Mimics: Coughs / sneezes carry the virus to neighbours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9927" y="58521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42E"/>
                </a:solidFill>
                <a:latin typeface="Helvetica"/>
              </a:rPr>
              <a:t>Pull toward another elite strain — implicit anisotropy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1807" y="1280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6B9A4C"/>
                </a:solidFill>
                <a:latin typeface="Helvetica"/>
              </a:rPr>
              <a:t>Airborne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4807" y="1737360"/>
            <a:ext cx="1005840" cy="274320"/>
          </a:xfrm>
          <a:prstGeom prst="rect">
            <a:avLst/>
          </a:prstGeom>
          <a:solidFill>
            <a:srgbClr val="6B9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4807" y="17373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Helvetica"/>
              </a:rPr>
              <a:t>p = 30 %</a:t>
            </a:r>
          </a:p>
        </p:txBody>
      </p:sp>
      <p:pic>
        <p:nvPicPr>
          <p:cNvPr id="21" name="Picture 20" descr="channel_air__18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07" y="2148840"/>
            <a:ext cx="3291840" cy="3291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61807" y="54864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Mimics: Aerosols drift far from any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1807" y="58521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F242E"/>
                </a:solidFill>
                <a:latin typeface="Helvetica"/>
              </a:rPr>
              <a:t>Spawn far from the population — escape when stuck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13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Channel — Close-contact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nnel_contact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E86AB"/>
                </a:solidFill>
                <a:latin typeface="Helvetica"/>
              </a:rPr>
              <a:t>Close-contact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606040"/>
            <a:ext cx="6156655" cy="10058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679192"/>
            <a:ext cx="615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FORMULA</a:t>
            </a:r>
          </a:p>
        </p:txBody>
      </p:sp>
      <p:pic>
        <p:nvPicPr>
          <p:cNvPr id="10" name="Picture 9" descr="formula_contact__1800_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122" y="3017520"/>
            <a:ext cx="257721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8404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AB"/>
                </a:solidFill>
                <a:latin typeface="Helvetica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20624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Pick a parent x_p from the 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091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AB"/>
                </a:solidFill>
                <a:latin typeface="Helvetica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70916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Sample a Gaussian step with width σᵢ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2120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AB"/>
                </a:solidFill>
                <a:latin typeface="Helvetica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21208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σᵢ shrinks with fitness and parent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715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AB"/>
                </a:solidFill>
                <a:latin typeface="Helvetica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71500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→ Refines the basin the parent sits 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14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Channel — Droplet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nnel_droplet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07A5F"/>
                </a:solidFill>
                <a:latin typeface="Helvetica"/>
              </a:rPr>
              <a:t>Droplet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606040"/>
            <a:ext cx="6156655" cy="10058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679192"/>
            <a:ext cx="615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FORMULA</a:t>
            </a:r>
          </a:p>
        </p:txBody>
      </p:sp>
      <p:pic>
        <p:nvPicPr>
          <p:cNvPr id="10" name="Picture 9" descr="formula_droplet__1800_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020132"/>
            <a:ext cx="5882335" cy="451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8404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07A5F"/>
                </a:solidFill>
                <a:latin typeface="Helvetica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20624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Pull the parent toward another elite strain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091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07A5F"/>
                </a:solidFill>
                <a:latin typeface="Helvetica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70916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Perturb with a population differential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2120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07A5F"/>
                </a:solidFill>
                <a:latin typeface="Helvetica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21208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No covariance matrix is learned explicitly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715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07A5F"/>
                </a:solidFill>
                <a:latin typeface="Helvetica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71500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→ Implicit anisotropy — alignment is automatic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15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Channel — Airborne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nnel_air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6B9A4C"/>
                </a:solidFill>
                <a:latin typeface="Helvetica"/>
              </a:rPr>
              <a:t>Airborne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606040"/>
            <a:ext cx="6156655" cy="10058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679192"/>
            <a:ext cx="6156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FORMULA</a:t>
            </a:r>
          </a:p>
        </p:txBody>
      </p:sp>
      <p:pic>
        <p:nvPicPr>
          <p:cNvPr id="10" name="Picture 9" descr="formula_air__1800_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926" y="3017520"/>
            <a:ext cx="3433602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8404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576"/>
                </a:solidFill>
                <a:latin typeface="Helvetica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2062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9A4C"/>
                </a:solidFill>
                <a:latin typeface="Helvetica"/>
              </a:rPr>
              <a:t>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20624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Sample a random location, independent of any 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7091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9A4C"/>
                </a:solidFill>
                <a:latin typeface="Helvetica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70916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Use a wide step width σ_air (much larger than σᵢ)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2120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9A4C"/>
                </a:solidFill>
                <a:latin typeface="Helvetica"/>
              </a:rP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521208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Independent of where the population currently sits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715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B9A4C"/>
                </a:solidFill>
                <a:latin typeface="Helvetica"/>
              </a:rPr>
              <a:t>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715000"/>
            <a:ext cx="57451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→ Escape route when the swarm is trapped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16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Population mechanism — Strain coexistence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ech_strain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"/>
              </a:rPr>
              <a:t>Strain coexistence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6156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Keep up to 6 spatially-separated elite strains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520440"/>
            <a:ext cx="615665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Instead of locking onto a single source, we protect several elite
strains that are spaced apart.
→ The droplet channel can pull toward any of them, so the search
stays diverse on multimodal landscapes.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577840"/>
            <a:ext cx="6156655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56692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Courier New"/>
              </a:rPr>
              <a:t>niche_radius = 1.0    n_elite_max =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17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Population mechanism — Host competition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ech_host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"/>
              </a:rPr>
              <a:t>Host competition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6156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Each generation: kill the bottom 25%, then rollback if children are worse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520440"/>
            <a:ext cx="615665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Kill the worst quartile of the population. Insert new children into
the empty slots — but if a child is worse than its parent, revert.
→ The population improves monotonically; no regression allowed.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577840"/>
            <a:ext cx="6156655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56692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Courier New"/>
              </a:rPr>
              <a:t>kill_fraction = 25%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18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Population mechanism — Spillover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mech_spillover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420624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783080"/>
            <a:ext cx="6156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0392B"/>
                </a:solidFill>
                <a:latin typeface="Helvetica"/>
              </a:rPr>
              <a:t>Spillover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14600"/>
            <a:ext cx="61566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Escalating re-seed when improvement stalls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520440"/>
            <a:ext cx="6156655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Reset strength grows with the stagnation streak:
 • Stage 0: replace 75% of the population uniformly
 • Stage 1: replace 100% (best preserved)
 • Stage 2: also discard the best, reset σ (basin switch)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5577840"/>
            <a:ext cx="6156655" cy="548640"/>
          </a:xfrm>
          <a:prstGeom prst="rect">
            <a:avLst/>
          </a:prstGeom>
          <a:solidFill>
            <a:srgbClr val="F3F5F8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5669280"/>
            <a:ext cx="6156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Courier New"/>
              </a:rPr>
              <a:t>no_improve ≥ 300  AND  f_best &gt; 1e-8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19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 —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Step-size σ adaptation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08-Rosenbrock_MC-ESO_outbreak_dyn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318" y="1417320"/>
            <a:ext cx="4045057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576"/>
                </a:solidFill>
                <a:latin typeface="Helvetica"/>
              </a:rPr>
              <a:t>Example: σ trajectory of one MC-ESO run on F08-Rosenbrock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242E"/>
                </a:solidFill>
                <a:latin typeface="Helvetica"/>
              </a:rPr>
              <a:t>Expand on improvement, shrink on stagnation, drill hard at the end.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BBOB benchmark — conditions and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21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4 —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Experimental setup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0876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7335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BBOB (24 functions) + 2 classical (C01–C02)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Dimension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45059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d = 2,  search domain [−5, 5]ᵈ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2783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5,000 evaluations per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Repetitions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0507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50 independent runs per (function, method)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8231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Run succeeds if best f ≤ target threshold (1e−1 … 1e−10)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55955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SR@1e-k = success rate at threshold 10⁻ᵏ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22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4 —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Comparison methods (details in appendix)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08760"/>
            <a:ext cx="182880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911535" cy="731520"/>
          </a:xfrm>
          <a:prstGeom prst="rect">
            <a:avLst/>
          </a:prstGeom>
          <a:solidFill>
            <a:srgbClr val="E7A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"/>
              </a:rPr>
              <a:t>MC-ESO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Three transmission channels (contact + droplet + airborne) in parallel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82880" cy="731520"/>
          </a:xfrm>
          <a:prstGeom prst="rect">
            <a:avLst/>
          </a:prstGeom>
          <a:solidFill>
            <a:srgbClr val="5A6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242E"/>
                </a:solidFill>
                <a:latin typeface="Helvetica"/>
              </a:rPr>
              <a:t>CMA-ES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060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Learns a covariance matrix; reshapes sampling to fit the landscape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82880" cy="731520"/>
          </a:xfrm>
          <a:prstGeom prst="rect">
            <a:avLst/>
          </a:prstGeom>
          <a:solidFill>
            <a:srgbClr val="5A6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242E"/>
                </a:solidFill>
                <a:latin typeface="Helvetica"/>
              </a:rPr>
              <a:t>PSO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74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Particles move toward their own best and the swarm's best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82880" cy="731520"/>
          </a:xfrm>
          <a:prstGeom prst="rect">
            <a:avLst/>
          </a:prstGeom>
          <a:solidFill>
            <a:srgbClr val="5A6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242E"/>
                </a:solidFill>
                <a:latin typeface="Helvetica"/>
              </a:rPr>
              <a:t>SaVOA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43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242E"/>
                </a:solidFill>
                <a:latin typeface="Helvetica"/>
              </a:rPr>
              <a:t>Virus-inspired (single channel) with self-adaptive step size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Success rate across all functions; the hard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24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5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Average success rate over 26 BBOB functions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26 functions × 50 runs × SR@1e-4 (= fraction reaching target precision)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2199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0392B"/>
                </a:solidFill>
                <a:latin typeface="Helvetica"/>
              </a:rPr>
              <a:t>MC-ESO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7315200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2103120"/>
            <a:ext cx="6839712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7232" y="222199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242E"/>
                </a:solidFill>
                <a:latin typeface="Helvetica"/>
              </a:rPr>
              <a:t>93.5%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44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PSO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926080"/>
            <a:ext cx="7315200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2926080"/>
            <a:ext cx="5457139" cy="5669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4659" y="30449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74.6%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SaVOA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3749040"/>
            <a:ext cx="7315200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3749040"/>
            <a:ext cx="5435193" cy="566928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2713" y="38679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74.3%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9087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CMA-ES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572000"/>
            <a:ext cx="7315200" cy="5669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4572000"/>
            <a:ext cx="5164531" cy="566928"/>
          </a:xfrm>
          <a:prstGeom prst="rect">
            <a:avLst/>
          </a:prstGeom>
          <a:solidFill>
            <a:srgbClr val="6B9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2051" y="46908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70.6%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0392B"/>
                </a:solidFill>
                <a:latin typeface="Helvetica"/>
              </a:rPr>
              <a:t>→ MC-ESO leads every baseline by at least 19 percentage points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25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5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Full BBOB — success rate at multiple precision thresholds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417320"/>
            <a:ext cx="2697480" cy="1828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SR @ 1e-2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42E"/>
                </a:solidFill>
                <a:latin typeface="Helvetica"/>
              </a:rPr>
              <a:t>2472 / 2600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95.1%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697480" cy="1828800"/>
          </a:xfrm>
          <a:prstGeom prst="rect">
            <a:avLst/>
          </a:prstGeom>
          <a:solidFill>
            <a:srgbClr val="E7A8A2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0392B"/>
                </a:solidFill>
                <a:latin typeface="Helvetica"/>
              </a:rPr>
              <a:t>SR @ 1e-4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42E"/>
                </a:solidFill>
                <a:latin typeface="Helvetica"/>
              </a:rPr>
              <a:t>2432 / 2600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93.5%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97480" cy="1828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SR @ 1e-7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42E"/>
                </a:solidFill>
                <a:latin typeface="Helvetica"/>
              </a:rPr>
              <a:t>2290 / 2600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88.1%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17320"/>
            <a:ext cx="2697480" cy="1828800"/>
          </a:xfrm>
          <a:prstGeom prst="rect">
            <a:avLst/>
          </a:prstGeom>
          <a:solidFill>
            <a:srgbClr val="F3F5F8"/>
          </a:solidFill>
          <a:ln w="1270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600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SR @ 1e-10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01168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F242E"/>
                </a:solidFill>
                <a:latin typeface="Helvetica"/>
              </a:rPr>
              <a:t>2184 / 2600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7432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84.0%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"/>
              </a:rPr>
              <a:t>Top method on 21 / 26 functions  (6 outright + 15 tied)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26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5 —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Where MC-ESO still struggles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576"/>
                </a:solidFill>
                <a:latin typeface="Helvetica"/>
              </a:rPr>
              <a:t>The 3 weakest cases — all of them are open problems for every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SR @ 1e-4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A6576"/>
                </a:solidFill>
                <a:latin typeface="Helvetica"/>
              </a:rPr>
              <a:t>Why it's hard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42316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63347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F24  Lunacek bi-Rastrigin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3347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392B"/>
                </a:solidFill>
                <a:latin typeface="Helvetica"/>
              </a:rPr>
              <a:t>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51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Double 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517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Deeper funnel is the wrong basin (deceptive)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72968"/>
            <a:ext cx="11094415" cy="594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F23  Katsuura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291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0392B"/>
                </a:solidFill>
                <a:latin typeface="Helvetica"/>
              </a:rPr>
              <a:t>58%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3101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Fractal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31012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Self-similar; no smoothing scale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502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F18  Schaffer F7 (ill)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95020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4F"/>
                </a:solidFill>
                <a:latin typeface="Helvetica"/>
              </a:rP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96849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Ill-cond. multimodal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968496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Many local optima inside a narrow valley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489704"/>
            <a:ext cx="11094415" cy="5943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0857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42E"/>
                </a:solidFill>
                <a:latin typeface="Helvetica"/>
              </a:rPr>
              <a:t>F04  Büche-Rastrigin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60857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E864F"/>
                </a:solidFill>
                <a:latin typeface="Helvetica"/>
              </a:rPr>
              <a:t>92%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62686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Asymmetric multimodal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626864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Dense grid of local optima, asymmetric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576"/>
                </a:solidFill>
                <a:latin typeface="Helvetica"/>
              </a:rPr>
              <a:t>These remain open problems across the entire metaheuristic literature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Why it works, and where it loses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28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6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Why does it work — ① Implicit anisotropy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0392B"/>
                </a:solidFill>
                <a:latin typeface="Helvetica"/>
              </a:rPr>
              <a:t>The droplet channel picks up the landscape's anisotropy for free</a:t>
            </a:r>
          </a:p>
        </p:txBody>
      </p:sp>
      <p:pic>
        <p:nvPicPr>
          <p:cNvPr id="7" name="Picture 6" descr="F08-Rosenbrock_MC-ESO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055" y="2011680"/>
            <a:ext cx="47752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2255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From the F08-Rosenbrock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The differential vector used by the droplet channel
naturally aligns with the dominant spread direction of
the population.
→ Same benefit as CMA-ES, without explicit covariance.
• Extra cost: zero
• Helps on: narrow valleys like F08 Rosenbrock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29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6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Why does it work — ② Multimodal coverage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0392B"/>
                </a:solidFill>
                <a:latin typeface="Helvetica"/>
              </a:rPr>
              <a:t>Strain coexistence keeps multiple peaks alive simultaneously</a:t>
            </a:r>
          </a:p>
        </p:txBody>
      </p:sp>
      <p:pic>
        <p:nvPicPr>
          <p:cNvPr id="7" name="Picture 6" descr="F03-RastriginSep_MC-ESO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055" y="2011680"/>
            <a:ext cx="47752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2255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From the F03-RastriginSep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Instead of locking onto a single source, MC-ESO keeps
up to 6 spatially-separated elite strains.
→ A single trapped optimum no longer terminates the search.
• Extra cost: light (distance check only)
• Helps on: rugged multimodal like F03 Rastrigin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30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6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Why does it work — ③ Adaptive disruption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0392B"/>
                </a:solidFill>
                <a:latin typeface="Helvetica"/>
              </a:rPr>
              <a:t>Spillover explosively re-seeds a stuck population</a:t>
            </a:r>
          </a:p>
        </p:txBody>
      </p:sp>
      <p:pic>
        <p:nvPicPr>
          <p:cNvPr id="7" name="Picture 6" descr="F24-LunacekRastrigin_MC-ESO_outbreak_dyn__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50" y="2011680"/>
            <a:ext cx="4222409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42255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From the F24-LunacekRastrigin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42E"/>
                </a:solidFill>
                <a:latin typeface="Helvetica"/>
              </a:rPr>
              <a:t>When improvement stalls for long, the reset strength
escalates with each successive failure.
→ The algorithm doesn't just wait — it switches basins
by itself.
• Helps on: multi-basin landscapes like F24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31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6 —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Limitations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Hand-tuned channel ratios (30:40:30)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Deceptive funnels  (F24, F23)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490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Only d = 2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C0392B"/>
                </a:solidFill>
                <a:latin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617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No gradient hybridization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E7A8A2"/>
                </a:solidFill>
                <a:latin typeface="Helvetica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2834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F242E"/>
                </a:solidFill>
                <a:latin typeface="Helvetic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576"/>
                </a:solidFill>
                <a:latin typeface="Helvetica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33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7 —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011680"/>
            <a:ext cx="20116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Multi-route reproduction inspired by epidemic spread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20116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3 transmission channels + 3 population mechanisms + adaptive 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201168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"/>
              </a:rP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F242E"/>
                </a:solidFill>
                <a:latin typeface="Helvetica"/>
              </a:rPr>
              <a:t>Average SR = 93.5% on BBOB-26 — outperforms all 3 baselines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C0392B"/>
                </a:solidFill>
                <a:latin typeface="Helvetica"/>
              </a:rPr>
              <a:t>Thank you.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34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Appendix — SaVOA (Self-adaptive Virus Optimization)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42E"/>
                </a:solidFill>
                <a:latin typeface="Helvetica"/>
              </a:rPr>
              <a:t>The closest prior work — also virus-inspired, but with a single 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6576"/>
                </a:solidFill>
                <a:latin typeface="Helvetica"/>
              </a:rPr>
              <a:t>Inspiration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Viral infection and self-replication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6576"/>
                </a:solidFill>
                <a:latin typeface="Helvetica"/>
              </a:rPr>
              <a:t>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5468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Single Gaussian sample around the parent (contact channel 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6576"/>
                </a:solidFill>
                <a:latin typeface="Helvetica"/>
              </a:rPr>
              <a:t>σ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9319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Self-adaptive — each agent learns its own step size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6576"/>
                </a:solidFill>
                <a:latin typeface="Helvetica"/>
              </a:rPr>
              <a:t>Population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09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Simple generational replacement. No niching, no escalating restart.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64592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A6576"/>
                </a:solidFill>
                <a:latin typeface="Helvetica"/>
              </a:rPr>
              <a:t>vs. MC-ESO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486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42E"/>
                </a:solidFill>
                <a:latin typeface="Helvetica"/>
              </a:rPr>
              <a:t>• 1 channel → 3 (contact + droplet + airborne)
• Adds 3 population mechanisms (strain coexistence, host competition, spillover)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35 /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576"/>
                </a:solidFill>
                <a:latin typeface="Helvetica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42E"/>
                </a:solidFill>
                <a:latin typeface="Helvetica"/>
              </a:rPr>
              <a:t>Appendix — Other baselines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097280"/>
            <a:ext cx="11094415" cy="0"/>
          </a:xfrm>
          <a:prstGeom prst="line">
            <a:avLst/>
          </a:prstGeom>
          <a:ln w="9525">
            <a:solidFill>
              <a:srgbClr val="D0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6459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242E"/>
                </a:solidFill>
                <a:latin typeface="Helvetica"/>
              </a:rPr>
              <a:t>CMA-ES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62763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576"/>
                </a:solidFill>
                <a:latin typeface="Helvetica"/>
              </a:rPr>
              <a:t>Covariance Matrix Adaptation Evolution Strategy (de facto standard)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• Learns the shape of the sampling Gaussian itself
• Excellent on elongated / rotated landscapes
• Tends to get trapped in local optima on multimodal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11064240" cy="1371600"/>
          </a:xfrm>
          <a:prstGeom prst="rect">
            <a:avLst/>
          </a:prstGeom>
          <a:noFill/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164592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F242E"/>
                </a:solidFill>
                <a:latin typeface="Helvetica"/>
              </a:rPr>
              <a:t>PSO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136392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576"/>
                </a:solidFill>
                <a:latin typeface="Helvetica"/>
              </a:rPr>
              <a:t>Particle Swarm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61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42E"/>
                </a:solidFill>
                <a:latin typeface="Helvetica"/>
              </a:rPr>
              <a:t>• Each particle moves toward its own best and the swarm best
• Strong on smooth problems / stagnates on high-dim narrow valleys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