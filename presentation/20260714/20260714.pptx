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image" Target="../media/image3.wmf"/><Relationship Id="rId5" Type="http://schemas.openxmlformats.org/officeDocument/2006/relationships/image" Target="../media/image4.wmf"/><Relationship Id="rId6" Type="http://schemas.openxmlformats.org/officeDocument/2006/relationships/image" Target="../media/image5.wmf"/><Relationship Id="rId7" Type="http://schemas.openxmlformats.org/officeDocument/2006/relationships/image" Target="../media/image6.w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w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wmf"/><Relationship Id="rId3" Type="http://schemas.openxmlformats.org/officeDocument/2006/relationships/image" Target="../media/image9.wmf"/><Relationship Id="rId4" Type="http://schemas.openxmlformats.org/officeDocument/2006/relationships/image" Target="../media/image10.wmf"/><Relationship Id="rId5" Type="http://schemas.openxmlformats.org/officeDocument/2006/relationships/image" Target="../media/image11.w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wmf"/><Relationship Id="rId3" Type="http://schemas.openxmlformats.org/officeDocument/2006/relationships/image" Target="../media/image13.w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image" Target="../media/image3.wmf"/><Relationship Id="rId5" Type="http://schemas.openxmlformats.org/officeDocument/2006/relationships/image" Target="../media/image4.wmf"/><Relationship Id="rId6" Type="http://schemas.openxmlformats.org/officeDocument/2006/relationships/image" Target="../media/image5.wmf"/><Relationship Id="rId7" Type="http://schemas.openxmlformats.org/officeDocument/2006/relationships/image" Target="../media/image6.w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wmf"/><Relationship Id="rId3" Type="http://schemas.openxmlformats.org/officeDocument/2006/relationships/image" Target="../media/image15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wmf"/><Relationship Id="rId3" Type="http://schemas.openxmlformats.org/officeDocument/2006/relationships/image" Target="../media/image21.wmf"/><Relationship Id="rId4" Type="http://schemas.openxmlformats.org/officeDocument/2006/relationships/image" Target="../media/image22.wmf"/><Relationship Id="rId5" Type="http://schemas.openxmlformats.org/officeDocument/2006/relationships/image" Target="../media/image23.wmf"/><Relationship Id="rId6" Type="http://schemas.openxmlformats.org/officeDocument/2006/relationships/image" Target="../media/image24.wmf"/><Relationship Id="rId7" Type="http://schemas.openxmlformats.org/officeDocument/2006/relationships/image" Target="../media/image25.w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w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image" Target="../media/image3.wmf"/><Relationship Id="rId5" Type="http://schemas.openxmlformats.org/officeDocument/2006/relationships/image" Target="../media/image4.wmf"/><Relationship Id="rId6" Type="http://schemas.openxmlformats.org/officeDocument/2006/relationships/image" Target="../media/image5.wmf"/><Relationship Id="rId7" Type="http://schemas.openxmlformats.org/officeDocument/2006/relationships/image" Target="../media/image6.w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wmf"/><Relationship Id="rId3" Type="http://schemas.openxmlformats.org/officeDocument/2006/relationships/image" Target="../media/image28.w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wmf"/><Relationship Id="rId3" Type="http://schemas.openxmlformats.org/officeDocument/2006/relationships/image" Target="../media/image36.wmf"/><Relationship Id="rId4" Type="http://schemas.openxmlformats.org/officeDocument/2006/relationships/image" Target="../media/image37.wmf"/><Relationship Id="rId5" Type="http://schemas.openxmlformats.org/officeDocument/2006/relationships/image" Target="../media/image38.wmf"/><Relationship Id="rId6" Type="http://schemas.openxmlformats.org/officeDocument/2006/relationships/image" Target="../media/image39.wmf"/><Relationship Id="rId7" Type="http://schemas.openxmlformats.org/officeDocument/2006/relationships/image" Target="../media/image40.wm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wm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image" Target="../media/image3.wmf"/><Relationship Id="rId5" Type="http://schemas.openxmlformats.org/officeDocument/2006/relationships/image" Target="../media/image4.wmf"/><Relationship Id="rId6" Type="http://schemas.openxmlformats.org/officeDocument/2006/relationships/image" Target="../media/image5.wmf"/><Relationship Id="rId7" Type="http://schemas.openxmlformats.org/officeDocument/2006/relationships/image" Target="../media/image6.w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wmf"/><Relationship Id="rId3" Type="http://schemas.openxmlformats.org/officeDocument/2006/relationships/image" Target="../media/image43.png"/><Relationship Id="rId4" Type="http://schemas.openxmlformats.org/officeDocument/2006/relationships/image" Target="../media/image44.wmf"/><Relationship Id="rId5" Type="http://schemas.openxmlformats.org/officeDocument/2006/relationships/image" Target="../media/image45.wmf"/><Relationship Id="rId6" Type="http://schemas.openxmlformats.org/officeDocument/2006/relationships/image" Target="../media/image46.png"/><Relationship Id="rId7" Type="http://schemas.openxmlformats.org/officeDocument/2006/relationships/image" Target="../media/image47.wmf"/><Relationship Id="rId8" Type="http://schemas.openxmlformats.org/officeDocument/2006/relationships/image" Target="../media/image48.wmf"/><Relationship Id="rId9" Type="http://schemas.openxmlformats.org/officeDocument/2006/relationships/image" Target="../media/image49.w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wmf"/><Relationship Id="rId3" Type="http://schemas.openxmlformats.org/officeDocument/2006/relationships/image" Target="../media/image51.wmf"/><Relationship Id="rId4" Type="http://schemas.openxmlformats.org/officeDocument/2006/relationships/image" Target="../media/image52.wmf"/><Relationship Id="rId5" Type="http://schemas.openxmlformats.org/officeDocument/2006/relationships/image" Target="../media/image53.wmf"/><Relationship Id="rId6" Type="http://schemas.openxmlformats.org/officeDocument/2006/relationships/image" Target="../media/image54.wmf"/><Relationship Id="rId7" Type="http://schemas.openxmlformats.org/officeDocument/2006/relationships/image" Target="../media/image55.w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wm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image" Target="../media/image3.wmf"/><Relationship Id="rId5" Type="http://schemas.openxmlformats.org/officeDocument/2006/relationships/image" Target="../media/image4.wmf"/><Relationship Id="rId6" Type="http://schemas.openxmlformats.org/officeDocument/2006/relationships/image" Target="../media/image5.wmf"/><Relationship Id="rId7" Type="http://schemas.openxmlformats.org/officeDocument/2006/relationships/image" Target="../media/image6.w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wmf"/><Relationship Id="rId5" Type="http://schemas.openxmlformats.org/officeDocument/2006/relationships/image" Target="../media/image60.w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wmf"/><Relationship Id="rId3" Type="http://schemas.openxmlformats.org/officeDocument/2006/relationships/image" Target="../media/image62.wmf"/><Relationship Id="rId4" Type="http://schemas.openxmlformats.org/officeDocument/2006/relationships/image" Target="../media/image63.wmf"/><Relationship Id="rId5" Type="http://schemas.openxmlformats.org/officeDocument/2006/relationships/image" Target="../media/image64.wmf"/><Relationship Id="rId6" Type="http://schemas.openxmlformats.org/officeDocument/2006/relationships/image" Target="../media/image65.wmf"/><Relationship Id="rId7" Type="http://schemas.openxmlformats.org/officeDocument/2006/relationships/image" Target="../media/image66.w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wm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wmf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w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wmf"/><Relationship Id="rId3" Type="http://schemas.openxmlformats.org/officeDocument/2006/relationships/image" Target="../media/image71.wmf"/><Relationship Id="rId4" Type="http://schemas.openxmlformats.org/officeDocument/2006/relationships/image" Target="../media/image72.png"/><Relationship Id="rId5" Type="http://schemas.openxmlformats.org/officeDocument/2006/relationships/image" Target="../media/image50.wmf"/><Relationship Id="rId6" Type="http://schemas.openxmlformats.org/officeDocument/2006/relationships/image" Target="../media/image51.wmf"/><Relationship Id="rId7" Type="http://schemas.openxmlformats.org/officeDocument/2006/relationships/image" Target="../media/image7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wmf"/><Relationship Id="rId3" Type="http://schemas.openxmlformats.org/officeDocument/2006/relationships/image" Target="../media/image75.wmf"/><Relationship Id="rId4" Type="http://schemas.openxmlformats.org/officeDocument/2006/relationships/image" Target="../media/image76.png"/><Relationship Id="rId5" Type="http://schemas.openxmlformats.org/officeDocument/2006/relationships/image" Target="../media/image77.wmf"/><Relationship Id="rId6" Type="http://schemas.openxmlformats.org/officeDocument/2006/relationships/image" Target="../media/image78.wmf"/><Relationship Id="rId7" Type="http://schemas.openxmlformats.org/officeDocument/2006/relationships/image" Target="../media/image7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wmf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wmf"/><Relationship Id="rId3" Type="http://schemas.openxmlformats.org/officeDocument/2006/relationships/image" Target="../media/image82.wmf"/><Relationship Id="rId4" Type="http://schemas.openxmlformats.org/officeDocument/2006/relationships/image" Target="../media/image83.wmf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image" Target="../media/image3.wmf"/><Relationship Id="rId5" Type="http://schemas.openxmlformats.org/officeDocument/2006/relationships/image" Target="../media/image4.wmf"/><Relationship Id="rId6" Type="http://schemas.openxmlformats.org/officeDocument/2006/relationships/image" Target="../media/image5.wmf"/><Relationship Id="rId7" Type="http://schemas.openxmlformats.org/officeDocument/2006/relationships/image" Target="../media/image6.wmf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wmf"/><Relationship Id="rId3" Type="http://schemas.openxmlformats.org/officeDocument/2006/relationships/image" Target="../media/image85.wmf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wmf"/><Relationship Id="rId3" Type="http://schemas.openxmlformats.org/officeDocument/2006/relationships/image" Target="../media/image80.wmf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87.wmf"/><Relationship Id="rId4" Type="http://schemas.openxmlformats.org/officeDocument/2006/relationships/image" Target="../media/image8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Arial"/>
              </a:rPr>
              <a:t>PROGRESS REPORT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697480"/>
            <a:ext cx="9144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600" b="1" i="0">
                <a:solidFill>
                  <a:srgbClr val="1F2733"/>
                </a:solidFill>
                <a:latin typeface="Arial"/>
              </a:rPr>
              <a:t>MC-ESO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1F2733"/>
                </a:solidFill>
                <a:latin typeface="Arial"/>
              </a:rPr>
              <a:t>Multi-Channel Epidemic Spread Optimizer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673"/>
                </a:solidFill>
                <a:latin typeface="Arial"/>
              </a:rPr>
              <a:t>Diagnosis-driven refinements since 5/18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2733"/>
                </a:solidFill>
                <a:latin typeface="Arial"/>
              </a:rPr>
              <a:t>M1 Kosei Matsuzaki   /  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54480"/>
            <a:ext cx="2926080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0" b="1" i="0">
                <a:solidFill>
                  <a:srgbClr val="E8A9A0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0" y="2788920"/>
            <a:ext cx="80467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F2733"/>
                </a:solidFill>
                <a:latin typeface="Arial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1880" y="370332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5B6673"/>
                </a:solidFill>
                <a:latin typeface="Arial"/>
              </a:rPr>
              <a:t>Where the 5/18 report left off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Motivation &amp; goal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1 —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3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Every method has a landscape it fails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36776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5B6673"/>
                </a:solidFill>
                <a:latin typeface="Arial"/>
              </a:rPr>
              <a:t>mean SR@1e-10 / BBOB-24 / dim 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11183112" cy="603504"/>
          </a:xfrm>
          <a:prstGeom prst="rect">
            <a:avLst/>
          </a:prstGeom>
          <a:solidFill>
            <a:srgbClr val="EDEFF2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965960"/>
            <a:ext cx="3063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5B6673"/>
                </a:solidFill>
                <a:latin typeface="Arial"/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1965960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5B6673"/>
                </a:solidFill>
                <a:latin typeface="Arial"/>
              </a:rPr>
              <a:t>Weak function 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1965960"/>
            <a:ext cx="286207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5B6673"/>
                </a:solidFill>
                <a:latin typeface="Arial"/>
              </a:rPr>
              <a:t>SR@1e-10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69464"/>
            <a:ext cx="1118311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569464"/>
            <a:ext cx="3063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2733"/>
                </a:solidFill>
                <a:latin typeface="Arial"/>
              </a:rPr>
              <a:t>CMA-ES / L-SHADE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5694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0" i="0">
                <a:solidFill>
                  <a:srgbClr val="1F2733"/>
                </a:solidFill>
                <a:latin typeface="Arial"/>
              </a:rPr>
              <a:t>Multimodal  (F15–F24)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8" y="2569464"/>
            <a:ext cx="286207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0" i="0">
                <a:solidFill>
                  <a:srgbClr val="1F2733"/>
                </a:solidFill>
                <a:latin typeface="Arial"/>
              </a:rPr>
              <a:t>32% / 42%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72968"/>
            <a:ext cx="11183112" cy="60350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172968"/>
            <a:ext cx="3063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2733"/>
                </a:solidFill>
                <a:latin typeface="Arial"/>
              </a:rPr>
              <a:t>PSO / SaVOA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31729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0" i="0">
                <a:solidFill>
                  <a:srgbClr val="1F2733"/>
                </a:solidFill>
                <a:latin typeface="Arial"/>
              </a:rPr>
              <a:t>Ill-conditioned  (F10–F14)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3172968"/>
            <a:ext cx="286207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0" i="0">
                <a:solidFill>
                  <a:srgbClr val="1F2733"/>
                </a:solidFill>
                <a:latin typeface="Arial"/>
              </a:rPr>
              <a:t>7% / 18%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76472"/>
            <a:ext cx="1118311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776472"/>
            <a:ext cx="3063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2733"/>
                </a:solidFill>
                <a:latin typeface="Arial"/>
              </a:rPr>
              <a:t>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37764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0" i="0">
                <a:solidFill>
                  <a:srgbClr val="1F2733"/>
                </a:solidFill>
                <a:latin typeface="Arial"/>
              </a:rPr>
              <a:t>Bent-valley / asymmetric  (F06–F09)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3776472"/>
            <a:ext cx="286207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0" i="0">
                <a:solidFill>
                  <a:srgbClr val="1F2733"/>
                </a:solidFill>
                <a:latin typeface="Arial"/>
              </a:rPr>
              <a:t>91%  (rest ≈100)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4379976"/>
            <a:ext cx="11183112" cy="0"/>
          </a:xfrm>
          <a:prstGeom prst="line">
            <a:avLst/>
          </a:prstGeom>
          <a:ln w="12700">
            <a:solidFill>
              <a:srgbClr val="D9DC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2920" y="4892040"/>
            <a:ext cx="11183112" cy="1234440"/>
          </a:xfrm>
          <a:prstGeom prst="roundRect">
            <a:avLst>
              <a:gd name="adj" fmla="val 5925"/>
            </a:avLst>
          </a:prstGeom>
          <a:solidFill>
            <a:srgbClr val="F2F4F6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3892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Arial"/>
              </a:rPr>
              <a:t>GOAL</a:t>
            </a:r>
          </a:p>
          <a:p>
            <a:pPr algn="l">
              <a:spcBef>
                <a:spcPts val="600"/>
              </a:spcBef>
            </a:pPr>
            <a:r>
              <a:rPr sz="2200" b="1" i="0">
                <a:solidFill>
                  <a:srgbClr val="1F2733"/>
                </a:solidFill>
                <a:latin typeface="Arial"/>
              </a:rPr>
              <a:t>Mimic multi-route viral spread — robust across every function shape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How MC-ESO works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1 —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4 / 45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3767328"/>
            <a:ext cx="11185855" cy="0"/>
          </a:xfrm>
          <a:prstGeom prst="line">
            <a:avLst/>
          </a:prstGeom>
          <a:ln w="1270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984248"/>
            <a:ext cx="1600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Transmission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channels</a:t>
            </a:r>
          </a:p>
          <a:p>
            <a:pPr algn="l">
              <a:spcBef>
                <a:spcPts val="1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three parallel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reproduction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3412" y="14813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Arial"/>
              </a:rPr>
              <a:t>Droplet</a:t>
            </a:r>
          </a:p>
        </p:txBody>
      </p:sp>
      <p:pic>
        <p:nvPicPr>
          <p:cNvPr id="9" name="Picture 8" descr="droplet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572" y="1865376"/>
            <a:ext cx="2743200" cy="16051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62956" y="14813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E6DA4"/>
                </a:solidFill>
                <a:latin typeface="Arial"/>
              </a:rPr>
              <a:t>Close-contact</a:t>
            </a:r>
          </a:p>
        </p:txBody>
      </p:sp>
      <p:pic>
        <p:nvPicPr>
          <p:cNvPr id="11" name="Picture 10" descr="contact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116" y="1865376"/>
            <a:ext cx="2743200" cy="16051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72500" y="14813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4A8B5C"/>
                </a:solidFill>
                <a:latin typeface="Arial"/>
              </a:rPr>
              <a:t>Airborne</a:t>
            </a:r>
          </a:p>
        </p:txBody>
      </p:sp>
      <p:pic>
        <p:nvPicPr>
          <p:cNvPr id="13" name="Picture 12" descr="airborne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660" y="1865376"/>
            <a:ext cx="2743200" cy="16051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4498848"/>
            <a:ext cx="1600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Population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strategies</a:t>
            </a:r>
          </a:p>
          <a:p>
            <a:pPr algn="l">
              <a:spcBef>
                <a:spcPts val="1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how the swarm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is steered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3412" y="409651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E8B8B"/>
                </a:solidFill>
                <a:latin typeface="Arial"/>
              </a:rPr>
              <a:t>Strain coexistence</a:t>
            </a:r>
          </a:p>
        </p:txBody>
      </p:sp>
      <p:pic>
        <p:nvPicPr>
          <p:cNvPr id="16" name="Picture 15" descr="strain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0572" y="4480560"/>
            <a:ext cx="2743200" cy="16051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62956" y="409651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6B4E9E"/>
                </a:solidFill>
                <a:latin typeface="Arial"/>
              </a:rPr>
              <a:t>Restart  (spillover)</a:t>
            </a:r>
          </a:p>
        </p:txBody>
      </p:sp>
      <p:pic>
        <p:nvPicPr>
          <p:cNvPr id="18" name="Picture 17" descr="restart.em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0116" y="4480560"/>
            <a:ext cx="2743200" cy="160515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72500" y="409651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F8A2B"/>
                </a:solidFill>
                <a:latin typeface="Arial"/>
              </a:rPr>
              <a:t>Drilling</a:t>
            </a:r>
          </a:p>
        </p:txBody>
      </p:sp>
      <p:pic>
        <p:nvPicPr>
          <p:cNvPr id="20" name="Picture 19" descr="drilling.em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9660" y="4480560"/>
            <a:ext cx="2743200" cy="16051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Previous results  (5/18)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1 —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5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Best at SR@1e-4 — but DE led at 1e-10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5B6673"/>
                </a:solidFill>
                <a:latin typeface="Arial"/>
              </a:rPr>
              <a:t>BBOB-24 [10] / dim 2 / n = 30</a:t>
            </a:r>
          </a:p>
        </p:txBody>
      </p:sp>
      <p:pic>
        <p:nvPicPr>
          <p:cNvPr id="8" name="Picture 7" descr="prev518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7269480" cy="402081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955279" y="2560320"/>
            <a:ext cx="3749040" cy="457200"/>
          </a:xfrm>
          <a:prstGeom prst="rect">
            <a:avLst/>
          </a:prstGeom>
          <a:solidFill>
            <a:srgbClr val="EDEFF2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5007" y="256032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6673"/>
                </a:solidFill>
                <a:latin typeface="Arial"/>
              </a:rP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0927" y="256032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5B6673"/>
                </a:solidFill>
                <a:latin typeface="Arial"/>
              </a:rPr>
              <a:t>1e-4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2487" y="256032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5B6673"/>
                </a:solidFill>
                <a:latin typeface="Arial"/>
              </a:rPr>
              <a:t>1e-10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3017520"/>
            <a:ext cx="3749040" cy="457200"/>
          </a:xfrm>
          <a:prstGeom prst="rect">
            <a:avLst/>
          </a:prstGeom>
          <a:solidFill>
            <a:srgbClr val="E8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7" y="301752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C1C11"/>
                </a:solidFill>
                <a:latin typeface="Arial"/>
              </a:rPr>
              <a:t>MC-ESO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199" y="3017520"/>
            <a:ext cx="1051560" cy="457200"/>
          </a:xfrm>
          <a:prstGeom prst="rect">
            <a:avLst/>
          </a:prstGeom>
          <a:solidFill>
            <a:srgbClr val="DF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0927" y="301752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F6B3E"/>
                </a:solidFill>
                <a:latin typeface="Arial"/>
              </a:rPr>
              <a:t>95.2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52759" y="3017520"/>
            <a:ext cx="1051560" cy="457200"/>
          </a:xfrm>
          <a:prstGeom prst="rect">
            <a:avLst/>
          </a:prstGeom>
          <a:solidFill>
            <a:srgbClr val="F7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62487" y="301752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Arial"/>
              </a:rPr>
              <a:t>86.2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3474720"/>
            <a:ext cx="3749040" cy="4572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7" y="347472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733"/>
                </a:solidFill>
                <a:latin typeface="Arial"/>
              </a:rPr>
              <a:t>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927" y="347472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F2733"/>
                </a:solidFill>
                <a:latin typeface="Arial"/>
              </a:rPr>
              <a:t>91.2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52759" y="3474720"/>
            <a:ext cx="1051560" cy="457200"/>
          </a:xfrm>
          <a:prstGeom prst="rect">
            <a:avLst/>
          </a:prstGeom>
          <a:solidFill>
            <a:srgbClr val="DF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62487" y="347472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F6B3E"/>
                </a:solidFill>
                <a:latin typeface="Arial"/>
              </a:rPr>
              <a:t>89.8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3931920"/>
            <a:ext cx="3749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5007" y="393192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733"/>
                </a:solidFill>
                <a:latin typeface="Arial"/>
              </a:rPr>
              <a:t>SaVOA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7" y="393192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F2733"/>
                </a:solidFill>
                <a:latin typeface="Arial"/>
              </a:rPr>
              <a:t>71.5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62487" y="393192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F2733"/>
                </a:solidFill>
                <a:latin typeface="Arial"/>
              </a:rPr>
              <a:t>59.5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4389120"/>
            <a:ext cx="3749040" cy="4572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7" y="438912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733"/>
                </a:solidFill>
                <a:latin typeface="Arial"/>
              </a:rPr>
              <a:t>PSO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7" y="438912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F2733"/>
                </a:solidFill>
                <a:latin typeface="Arial"/>
              </a:rPr>
              <a:t>72.5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62487" y="438912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F2733"/>
                </a:solidFill>
                <a:latin typeface="Arial"/>
              </a:rPr>
              <a:t>48.9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4846320"/>
            <a:ext cx="3749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65007" y="484632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733"/>
                </a:solidFill>
                <a:latin typeface="Arial"/>
              </a:rPr>
              <a:t>CMA-ES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7" y="484632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F2733"/>
                </a:solidFill>
                <a:latin typeface="Arial"/>
              </a:rPr>
              <a:t>70.0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62487" y="484632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F2733"/>
                </a:solidFill>
                <a:latin typeface="Arial"/>
              </a:rPr>
              <a:t>64.3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955279" y="5303520"/>
            <a:ext cx="3749040" cy="0"/>
          </a:xfrm>
          <a:prstGeom prst="line">
            <a:avLst/>
          </a:prstGeom>
          <a:ln w="12700">
            <a:solidFill>
              <a:srgbClr val="D9DC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54480"/>
            <a:ext cx="2926080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0" b="1" i="0">
                <a:solidFill>
                  <a:srgbClr val="E8A9A0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0" y="2788920"/>
            <a:ext cx="80467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F2733"/>
                </a:solidFill>
                <a:latin typeface="Arial"/>
              </a:rPr>
              <a:t>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1880" y="370332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5B6673"/>
                </a:solidFill>
                <a:latin typeface="Arial"/>
              </a:rPr>
              <a:t>Where to grow — and what we chose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Performance first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2 —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7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Fix the SR@1e-10 gaps before chasing multiple optima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5240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42616"/>
            <a:ext cx="534924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965960"/>
            <a:ext cx="3154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A. 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78808" y="2157984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8808" y="2157984"/>
            <a:ext cx="1417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Arial"/>
              </a:rPr>
              <a:t>CHOSEN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099816"/>
            <a:ext cx="465429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C0392B"/>
                </a:solidFill>
                <a:latin typeface="Arial"/>
              </a:rPr>
              <a:t>›  </a:t>
            </a:r>
            <a:r>
              <a:rPr sz="1650" b="0" i="0">
                <a:solidFill>
                  <a:srgbClr val="1F2733"/>
                </a:solidFill>
                <a:latin typeface="Arial"/>
              </a:rPr>
              <a:t>Fill deep-precision gaps on F11–F14</a:t>
            </a:r>
          </a:p>
          <a:p>
            <a:pPr algn="l">
              <a:spcBef>
                <a:spcPts val="1400"/>
              </a:spcBef>
            </a:pPr>
            <a:r>
              <a:rPr sz="1700" b="1" i="0">
                <a:solidFill>
                  <a:srgbClr val="C0392B"/>
                </a:solidFill>
                <a:latin typeface="Arial"/>
              </a:rPr>
              <a:t>›  </a:t>
            </a:r>
            <a:r>
              <a:rPr sz="1650" b="0" i="0">
                <a:solidFill>
                  <a:srgbClr val="1F2733"/>
                </a:solidFill>
                <a:latin typeface="Arial"/>
              </a:rPr>
              <a:t>SR@1e-10 never lowered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" y="4700016"/>
            <a:ext cx="4764024" cy="603504"/>
          </a:xfrm>
          <a:prstGeom prst="roundRect">
            <a:avLst>
              <a:gd name="adj" fmla="val 12121"/>
            </a:avLst>
          </a:prstGeom>
          <a:solidFill>
            <a:srgbClr val="E8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700016"/>
            <a:ext cx="476402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7C1C11"/>
                </a:solidFill>
                <a:latin typeface="Arial"/>
              </a:rPr>
              <a:t>Primary metric = SR@1e-10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965960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5240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1965960"/>
            <a:ext cx="5349240" cy="749808"/>
          </a:xfrm>
          <a:prstGeom prst="roundRect">
            <a:avLst>
              <a:gd name="adj" fmla="val 9756"/>
            </a:avLst>
          </a:prstGeom>
          <a:solidFill>
            <a:srgbClr val="5B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642616"/>
            <a:ext cx="5349240" cy="73152"/>
          </a:xfrm>
          <a:prstGeom prst="rect">
            <a:avLst/>
          </a:prstGeom>
          <a:solidFill>
            <a:srgbClr val="5B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1965960"/>
            <a:ext cx="3154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B. Multimodality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30968" y="2157984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30968" y="2157984"/>
            <a:ext cx="1417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B6673"/>
                </a:solidFill>
                <a:latin typeface="Arial"/>
              </a:rPr>
              <a:t>PARTIAL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099816"/>
            <a:ext cx="465429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5B6673"/>
                </a:solidFill>
                <a:latin typeface="Arial"/>
              </a:rPr>
              <a:t>›  </a:t>
            </a:r>
            <a:r>
              <a:rPr sz="1650" b="0" i="0">
                <a:solidFill>
                  <a:srgbClr val="1F2733"/>
                </a:solidFill>
                <a:latin typeface="Arial"/>
              </a:rPr>
              <a:t>Find many optima in parallel</a:t>
            </a:r>
          </a:p>
          <a:p>
            <a:pPr algn="l">
              <a:spcBef>
                <a:spcPts val="1400"/>
              </a:spcBef>
            </a:pPr>
            <a:r>
              <a:rPr sz="1700" b="1" i="0">
                <a:solidFill>
                  <a:srgbClr val="5B6673"/>
                </a:solidFill>
                <a:latin typeface="Arial"/>
              </a:rPr>
              <a:t>›  </a:t>
            </a:r>
            <a:r>
              <a:rPr sz="1650" b="0" i="0">
                <a:solidFill>
                  <a:srgbClr val="1F2733"/>
                </a:solidFill>
                <a:latin typeface="Arial"/>
              </a:rPr>
              <a:t>Sequential niching — SR-safe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7688" y="4700016"/>
            <a:ext cx="4764024" cy="603504"/>
          </a:xfrm>
          <a:prstGeom prst="roundRect">
            <a:avLst>
              <a:gd name="adj" fmla="val 12121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4700016"/>
            <a:ext cx="476402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5B6673"/>
                </a:solidFill>
                <a:latin typeface="Arial"/>
              </a:rPr>
              <a:t>Deeper work deferred  →  §5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54480"/>
            <a:ext cx="2926080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0" b="1" i="0">
                <a:solidFill>
                  <a:srgbClr val="E8A9A0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0" y="2788920"/>
            <a:ext cx="80467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F2733"/>
                </a:solidFill>
                <a:latin typeface="Arial"/>
              </a:rPr>
              <a:t>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1880" y="370332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5B6673"/>
                </a:solidFill>
                <a:latin typeface="Arial"/>
              </a:rPr>
              <a:t>Four changes — what, why, and the numbers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Four changes since 5/18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9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Cumulative — each builds on the last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2331720"/>
            <a:ext cx="11192256" cy="0"/>
          </a:xfrm>
          <a:prstGeom prst="line">
            <a:avLst/>
          </a:prstGeom>
          <a:ln w="44450">
            <a:solidFill>
              <a:srgbClr val="E8A9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764792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C0392B"/>
                </a:solidFill>
                <a:latin typeface="Arial"/>
              </a:rPr>
              <a:t>6/12</a:t>
            </a:r>
          </a:p>
        </p:txBody>
      </p:sp>
      <p:sp>
        <p:nvSpPr>
          <p:cNvPr id="9" name="Oval 8"/>
          <p:cNvSpPr/>
          <p:nvPr/>
        </p:nvSpPr>
        <p:spPr>
          <a:xfrm>
            <a:off x="1682496" y="2253996"/>
            <a:ext cx="155448" cy="15544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240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start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880360"/>
            <a:ext cx="2011680" cy="11337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4279392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F2733"/>
                </a:solidFill>
                <a:latin typeface="Arial"/>
              </a:rPr>
              <a:t>Informed restart</a:t>
            </a:r>
          </a:p>
          <a:p>
            <a:pPr algn="ctr">
              <a:spcBef>
                <a:spcPts val="600"/>
              </a:spcBef>
            </a:pPr>
            <a:r>
              <a:rPr sz="1200" b="0" i="0">
                <a:solidFill>
                  <a:srgbClr val="5B6673"/>
                </a:solidFill>
                <a:latin typeface="Arial"/>
              </a:rPr>
              <a:t>reservoir re-ignition + basin repulsion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1764792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C0392B"/>
                </a:solidFill>
                <a:latin typeface="Arial"/>
              </a:rPr>
              <a:t>6/24</a:t>
            </a:r>
          </a:p>
        </p:txBody>
      </p:sp>
      <p:sp>
        <p:nvSpPr>
          <p:cNvPr id="14" name="Oval 13"/>
          <p:cNvSpPr/>
          <p:nvPr/>
        </p:nvSpPr>
        <p:spPr>
          <a:xfrm>
            <a:off x="4544568" y="2253996"/>
            <a:ext cx="155448" cy="15544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19272" y="26517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240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loor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452" y="2880360"/>
            <a:ext cx="2011680" cy="11337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02152" y="4279392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F2733"/>
                </a:solidFill>
                <a:latin typeface="Arial"/>
              </a:rPr>
              <a:t>Adaptive floor</a:t>
            </a:r>
          </a:p>
          <a:p>
            <a:pPr algn="ctr">
              <a:spcBef>
                <a:spcPts val="600"/>
              </a:spcBef>
            </a:pPr>
            <a:r>
              <a:rPr sz="1200" b="0" i="0">
                <a:solidFill>
                  <a:srgbClr val="5B6673"/>
                </a:solidFill>
                <a:latin typeface="Arial"/>
              </a:rPr>
              <a:t>eigenvalue-ratio anisotropy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1764792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C0392B"/>
                </a:solidFill>
                <a:latin typeface="Arial"/>
              </a:rPr>
              <a:t>7/03</a:t>
            </a:r>
          </a:p>
        </p:txBody>
      </p:sp>
      <p:sp>
        <p:nvSpPr>
          <p:cNvPr id="19" name="Oval 18"/>
          <p:cNvSpPr/>
          <p:nvPr/>
        </p:nvSpPr>
        <p:spPr>
          <a:xfrm>
            <a:off x="7406640" y="2253996"/>
            <a:ext cx="155448" cy="15544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81344" y="26517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240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router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524" y="2880360"/>
            <a:ext cx="2011680" cy="11337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64224" y="4279392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F2733"/>
                </a:solidFill>
                <a:latin typeface="Arial"/>
              </a:rPr>
              <a:t>Channel router</a:t>
            </a:r>
          </a:p>
          <a:p>
            <a:pPr algn="ctr">
              <a:spcBef>
                <a:spcPts val="600"/>
              </a:spcBef>
            </a:pPr>
            <a:r>
              <a:rPr sz="1200" b="0" i="0">
                <a:solidFill>
                  <a:srgbClr val="5B6673"/>
                </a:solidFill>
                <a:latin typeface="Arial"/>
              </a:rPr>
              <a:t>per-landscape air-budget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416" y="1764792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C0392B"/>
                </a:solidFill>
                <a:latin typeface="Arial"/>
              </a:rPr>
              <a:t>7/03</a:t>
            </a:r>
          </a:p>
        </p:txBody>
      </p:sp>
      <p:sp>
        <p:nvSpPr>
          <p:cNvPr id="24" name="Oval 23"/>
          <p:cNvSpPr/>
          <p:nvPr/>
        </p:nvSpPr>
        <p:spPr>
          <a:xfrm>
            <a:off x="10268712" y="2253996"/>
            <a:ext cx="155448" cy="15544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43416" y="26517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240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est2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0596" y="2880360"/>
            <a:ext cx="2011680" cy="11337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26296" y="4279392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F2733"/>
                </a:solidFill>
                <a:latin typeface="Arial"/>
              </a:rPr>
              <a:t>Route-gated best2</a:t>
            </a:r>
          </a:p>
          <a:p>
            <a:pPr algn="ctr">
              <a:spcBef>
                <a:spcPts val="600"/>
              </a:spcBef>
            </a:pPr>
            <a:r>
              <a:rPr sz="1200" b="0" i="0">
                <a:solidFill>
                  <a:srgbClr val="5B6673"/>
                </a:solidFill>
                <a:latin typeface="Arial"/>
              </a:rPr>
              <a:t>2nd difference on droplet route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Cumulative ablation — +6.0 pt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10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SR@1e-10 86.9 → 92.9%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62456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5B6673"/>
                </a:solidFill>
                <a:latin typeface="Arial"/>
              </a:rPr>
              <a:t>BBOB-24 / dim 2 / n = 20</a:t>
            </a:r>
          </a:p>
        </p:txBody>
      </p:sp>
      <p:pic>
        <p:nvPicPr>
          <p:cNvPr id="8" name="Picture 7" descr="sr1e4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4892040" cy="3746900"/>
          </a:xfrm>
          <a:prstGeom prst="rect">
            <a:avLst/>
          </a:prstGeom>
        </p:spPr>
      </p:pic>
      <p:pic>
        <p:nvPicPr>
          <p:cNvPr id="9" name="Picture 8" descr="sr1e10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91640"/>
            <a:ext cx="4892040" cy="37469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5596128"/>
            <a:ext cx="11183112" cy="548640"/>
          </a:xfrm>
          <a:prstGeom prst="roundRect">
            <a:avLst>
              <a:gd name="adj" fmla="val 13333"/>
            </a:avLst>
          </a:prstGeom>
          <a:solidFill>
            <a:srgbClr val="F2F4F6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96128"/>
            <a:ext cx="10607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C1C11"/>
                </a:solidFill>
                <a:latin typeface="Arial"/>
              </a:rPr>
              <a:t>Now strong at both ends —  </a:t>
            </a:r>
            <a:r>
              <a:rPr sz="1350" b="0" i="0">
                <a:solidFill>
                  <a:srgbClr val="1F2733"/>
                </a:solidFill>
                <a:latin typeface="Arial"/>
              </a:rPr>
              <a:t>coarse discovery kept (1e-4 saturated), deep precision gained (1e-10 +6, past 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36208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B6673"/>
                </a:solidFill>
                <a:latin typeface="Arial"/>
              </a:rPr>
              <a:t>Sanity: abl0 86.9% ≈ the 86.2% measured on 5/18 (n=30)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① Informed restart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11 / 45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3767328"/>
            <a:ext cx="11185855" cy="0"/>
          </a:xfrm>
          <a:prstGeom prst="line">
            <a:avLst/>
          </a:prstGeom>
          <a:ln w="1270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984248"/>
            <a:ext cx="1600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Transmission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channels</a:t>
            </a:r>
          </a:p>
          <a:p>
            <a:pPr algn="l">
              <a:spcBef>
                <a:spcPts val="1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three parallel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reproduction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3412" y="14813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Arial"/>
              </a:rPr>
              <a:t>Droplet</a:t>
            </a:r>
          </a:p>
        </p:txBody>
      </p:sp>
      <p:pic>
        <p:nvPicPr>
          <p:cNvPr id="9" name="Picture 8" descr="droplet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572" y="1865376"/>
            <a:ext cx="2743200" cy="160515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130552" y="1298448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62956" y="14813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E6DA4"/>
                </a:solidFill>
                <a:latin typeface="Arial"/>
              </a:rPr>
              <a:t>Close-contact</a:t>
            </a:r>
          </a:p>
        </p:txBody>
      </p:sp>
      <p:pic>
        <p:nvPicPr>
          <p:cNvPr id="12" name="Picture 11" descr="contact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116" y="1865376"/>
            <a:ext cx="2743200" cy="160515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340096" y="1298448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500" y="14813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4A8B5C"/>
                </a:solidFill>
                <a:latin typeface="Arial"/>
              </a:rPr>
              <a:t>Airborne</a:t>
            </a:r>
          </a:p>
        </p:txBody>
      </p:sp>
      <p:pic>
        <p:nvPicPr>
          <p:cNvPr id="15" name="Picture 14" descr="airborne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660" y="1865376"/>
            <a:ext cx="2743200" cy="160515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549640" y="1298448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98848"/>
            <a:ext cx="1600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Population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strategies</a:t>
            </a:r>
          </a:p>
          <a:p>
            <a:pPr algn="l">
              <a:spcBef>
                <a:spcPts val="1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how the swarm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is steered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3412" y="409651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E8B8B"/>
                </a:solidFill>
                <a:latin typeface="Arial"/>
              </a:rPr>
              <a:t>Strain coexistence</a:t>
            </a:r>
          </a:p>
        </p:txBody>
      </p:sp>
      <p:pic>
        <p:nvPicPr>
          <p:cNvPr id="19" name="Picture 18" descr="strain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0572" y="4480560"/>
            <a:ext cx="2743200" cy="160515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130552" y="3913632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62956" y="409651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6B4E9E"/>
                </a:solidFill>
                <a:latin typeface="Arial"/>
              </a:rPr>
              <a:t>Restart  (spillover)</a:t>
            </a:r>
          </a:p>
        </p:txBody>
      </p:sp>
      <p:pic>
        <p:nvPicPr>
          <p:cNvPr id="22" name="Picture 21" descr="restart.em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0116" y="4480560"/>
            <a:ext cx="2743200" cy="160515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572500" y="409651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F8A2B"/>
                </a:solidFill>
                <a:latin typeface="Arial"/>
              </a:rPr>
              <a:t>Drilling</a:t>
            </a:r>
          </a:p>
        </p:txBody>
      </p:sp>
      <p:pic>
        <p:nvPicPr>
          <p:cNvPr id="24" name="Picture 23" descr="drilling.em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9660" y="4480560"/>
            <a:ext cx="2743200" cy="160515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549640" y="3913632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① Informed restart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12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A stalled sub-population re-seeds — real run on F04</a:t>
            </a:r>
          </a:p>
        </p:txBody>
      </p:sp>
      <p:pic>
        <p:nvPicPr>
          <p:cNvPr id="7" name="Picture 6" descr="before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554480"/>
            <a:ext cx="4114800" cy="4370871"/>
          </a:xfrm>
          <a:prstGeom prst="rect">
            <a:avLst/>
          </a:prstGeom>
        </p:spPr>
      </p:pic>
      <p:pic>
        <p:nvPicPr>
          <p:cNvPr id="8" name="Picture 7" descr="after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554480"/>
            <a:ext cx="4114800" cy="47976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① Informed restart — how it works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13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Re-seed from what the search already found, not blindly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755648"/>
            <a:ext cx="393192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524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1755648"/>
            <a:ext cx="3931920" cy="384048"/>
          </a:xfrm>
          <a:prstGeom prst="roundRect">
            <a:avLst>
              <a:gd name="adj" fmla="val 19047"/>
            </a:avLst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2066544"/>
            <a:ext cx="3931920" cy="73152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755648"/>
            <a:ext cx="3931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REPELLED</a:t>
            </a:r>
          </a:p>
        </p:txBody>
      </p:sp>
      <p:pic>
        <p:nvPicPr>
          <p:cNvPr id="11" name="Picture 10" descr="rep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786" y="2286000"/>
            <a:ext cx="3058668" cy="2926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976872" y="1755648"/>
            <a:ext cx="393192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76872" y="1755648"/>
            <a:ext cx="3931920" cy="384048"/>
          </a:xfrm>
          <a:prstGeom prst="roundRect">
            <a:avLst>
              <a:gd name="adj" fmla="val 19047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76872" y="2066544"/>
            <a:ext cx="393192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1755648"/>
            <a:ext cx="3931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RE-IGNITE</a:t>
            </a:r>
          </a:p>
        </p:txBody>
      </p:sp>
      <p:pic>
        <p:nvPicPr>
          <p:cNvPr id="16" name="Picture 15" descr="re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816" y="2276856"/>
            <a:ext cx="2542032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72887" y="3054096"/>
            <a:ext cx="1645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5B6673"/>
                </a:solidFill>
                <a:latin typeface="Arial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8487" y="3950208"/>
            <a:ext cx="34747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2733"/>
                </a:solidFill>
                <a:latin typeface="Arial"/>
              </a:rPr>
              <a:t>no improvement 300 evals</a:t>
            </a:r>
          </a:p>
          <a:p>
            <a:pPr algn="ctr">
              <a:spcBef>
                <a:spcPts val="400"/>
              </a:spcBef>
            </a:pPr>
            <a:r>
              <a:rPr sz="1150" b="1" i="0">
                <a:solidFill>
                  <a:srgbClr val="1F2733"/>
                </a:solidFill>
                <a:latin typeface="Arial"/>
              </a:rPr>
              <a:t>&amp;</a:t>
            </a:r>
          </a:p>
          <a:p>
            <a:pPr algn="ctr">
              <a:spcBef>
                <a:spcPts val="400"/>
              </a:spcBef>
            </a:pPr>
            <a:r>
              <a:rPr sz="1150" b="1" i="0">
                <a:solidFill>
                  <a:srgbClr val="1F2733"/>
                </a:solidFill>
                <a:latin typeface="Arial"/>
              </a:rPr>
              <a:t>f_best/|f_init| &gt; 1e-8</a:t>
            </a:r>
          </a:p>
        </p:txBody>
      </p:sp>
      <p:pic>
        <p:nvPicPr>
          <p:cNvPr id="19" name="Picture 18" descr="panel_rep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2871216"/>
            <a:ext cx="2377440" cy="2377440"/>
          </a:xfrm>
          <a:prstGeom prst="rect">
            <a:avLst/>
          </a:prstGeom>
        </p:spPr>
      </p:pic>
      <p:pic>
        <p:nvPicPr>
          <p:cNvPr id="20" name="Picture 19" descr="panel_rei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2871216"/>
            <a:ext cx="2377440" cy="2377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25880" y="5358384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5B6673"/>
                </a:solidFill>
                <a:latin typeface="Arial"/>
              </a:rPr>
              <a:t>uniform, but repelled from remembered basins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5358384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5B6673"/>
                </a:solidFill>
                <a:latin typeface="Arial"/>
              </a:rPr>
              <a:t>re-light around archived elites — good spots found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① Informed restart — result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14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17320"/>
            <a:ext cx="37033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733"/>
                </a:solidFill>
                <a:latin typeface="Arial"/>
              </a:rPr>
              <a:t>F04-BucheRastrigin  /  seed 200</a:t>
            </a:r>
          </a:p>
        </p:txBody>
      </p:sp>
      <p:pic>
        <p:nvPicPr>
          <p:cNvPr id="7" name="Picture 6" descr="a_map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83080"/>
            <a:ext cx="1737360" cy="1737360"/>
          </a:xfrm>
          <a:prstGeom prst="rect">
            <a:avLst/>
          </a:prstGeom>
        </p:spPr>
      </p:pic>
      <p:pic>
        <p:nvPicPr>
          <p:cNvPr id="8" name="Picture 7" descr="a_surf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837944"/>
            <a:ext cx="1828800" cy="1603899"/>
          </a:xfrm>
          <a:prstGeom prst="rect">
            <a:avLst/>
          </a:prstGeom>
        </p:spPr>
      </p:pic>
      <p:pic>
        <p:nvPicPr>
          <p:cNvPr id="9" name="Picture 8" descr="a_conv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508760"/>
            <a:ext cx="5577840" cy="23388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4041648"/>
            <a:ext cx="37033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733"/>
                </a:solidFill>
                <a:latin typeface="Arial"/>
              </a:rPr>
              <a:t>F18-SchafferF7ill  /  seed 1100</a:t>
            </a:r>
          </a:p>
        </p:txBody>
      </p:sp>
      <p:pic>
        <p:nvPicPr>
          <p:cNvPr id="11" name="Picture 10" descr="b_map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407408"/>
            <a:ext cx="1737360" cy="1737360"/>
          </a:xfrm>
          <a:prstGeom prst="rect">
            <a:avLst/>
          </a:prstGeom>
        </p:spPr>
      </p:pic>
      <p:pic>
        <p:nvPicPr>
          <p:cNvPr id="12" name="Picture 11" descr="b_surf.em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4462272"/>
            <a:ext cx="1828800" cy="1603899"/>
          </a:xfrm>
          <a:prstGeom prst="rect">
            <a:avLst/>
          </a:prstGeom>
        </p:spPr>
      </p:pic>
      <p:pic>
        <p:nvPicPr>
          <p:cNvPr id="13" name="Picture 12" descr="b_conv.em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4133088"/>
            <a:ext cx="5577840" cy="23388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① Informed restart — per-function SR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15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Net ±0 on BBOB-24 — the payoff is multimodal escape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45335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5B6673"/>
                </a:solidFill>
                <a:latin typeface="Arial"/>
              </a:rPr>
              <a:t>change-ablation / BBOB-24 / dim 2 / n = 20</a:t>
            </a:r>
          </a:p>
        </p:txBody>
      </p:sp>
      <p:pic>
        <p:nvPicPr>
          <p:cNvPr id="8" name="Picture 7" descr="sr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7" y="1874519"/>
            <a:ext cx="8961120" cy="45152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② Adaptive anisotropy floor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16 / 45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3767328"/>
            <a:ext cx="11185855" cy="0"/>
          </a:xfrm>
          <a:prstGeom prst="line">
            <a:avLst/>
          </a:prstGeom>
          <a:ln w="1270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984248"/>
            <a:ext cx="1600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Transmission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channels</a:t>
            </a:r>
          </a:p>
          <a:p>
            <a:pPr algn="l">
              <a:spcBef>
                <a:spcPts val="1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three parallel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reproduction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3412" y="14813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Arial"/>
              </a:rPr>
              <a:t>Droplet</a:t>
            </a:r>
          </a:p>
        </p:txBody>
      </p:sp>
      <p:pic>
        <p:nvPicPr>
          <p:cNvPr id="9" name="Picture 8" descr="droplet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572" y="1865376"/>
            <a:ext cx="2743200" cy="160515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130552" y="1298448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62956" y="14813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E6DA4"/>
                </a:solidFill>
                <a:latin typeface="Arial"/>
              </a:rPr>
              <a:t>Close-contact</a:t>
            </a:r>
          </a:p>
        </p:txBody>
      </p:sp>
      <p:pic>
        <p:nvPicPr>
          <p:cNvPr id="12" name="Picture 11" descr="contact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116" y="1865376"/>
            <a:ext cx="2743200" cy="16051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72500" y="14813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4A8B5C"/>
                </a:solidFill>
                <a:latin typeface="Arial"/>
              </a:rPr>
              <a:t>Airborne</a:t>
            </a:r>
          </a:p>
        </p:txBody>
      </p:sp>
      <p:pic>
        <p:nvPicPr>
          <p:cNvPr id="14" name="Picture 13" descr="airborne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660" y="1865376"/>
            <a:ext cx="2743200" cy="160515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549640" y="1298448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498848"/>
            <a:ext cx="1600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Population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strategies</a:t>
            </a:r>
          </a:p>
          <a:p>
            <a:pPr algn="l">
              <a:spcBef>
                <a:spcPts val="1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how the swarm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is steered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53412" y="409651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E8B8B"/>
                </a:solidFill>
                <a:latin typeface="Arial"/>
              </a:rPr>
              <a:t>Strain coexistence</a:t>
            </a:r>
          </a:p>
        </p:txBody>
      </p:sp>
      <p:pic>
        <p:nvPicPr>
          <p:cNvPr id="18" name="Picture 17" descr="strain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0572" y="4480560"/>
            <a:ext cx="2743200" cy="160515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130552" y="3913632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62956" y="409651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6B4E9E"/>
                </a:solidFill>
                <a:latin typeface="Arial"/>
              </a:rPr>
              <a:t>Restart  (spillover)</a:t>
            </a:r>
          </a:p>
        </p:txBody>
      </p:sp>
      <p:pic>
        <p:nvPicPr>
          <p:cNvPr id="21" name="Picture 20" descr="restart.em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0116" y="4480560"/>
            <a:ext cx="2743200" cy="160515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340096" y="3913632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2500" y="409651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F8A2B"/>
                </a:solidFill>
                <a:latin typeface="Arial"/>
              </a:rPr>
              <a:t>Drilling</a:t>
            </a:r>
          </a:p>
        </p:txBody>
      </p:sp>
      <p:pic>
        <p:nvPicPr>
          <p:cNvPr id="24" name="Picture 23" descr="drilling.em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9660" y="4480560"/>
            <a:ext cx="2743200" cy="160515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549640" y="3913632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② Adaptive anisotropy floor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17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Close-contact noise adapts to the landscape shape</a:t>
            </a:r>
          </a:p>
        </p:txBody>
      </p:sp>
      <p:pic>
        <p:nvPicPr>
          <p:cNvPr id="7" name="Picture 6" descr="illcond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91640"/>
            <a:ext cx="4343400" cy="4608576"/>
          </a:xfrm>
          <a:prstGeom prst="rect">
            <a:avLst/>
          </a:prstGeom>
        </p:spPr>
      </p:pic>
      <p:pic>
        <p:nvPicPr>
          <p:cNvPr id="8" name="Picture 7" descr="rugged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91640"/>
            <a:ext cx="4343400" cy="46085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② Adaptive anisotropy floor — the math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18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Only the floor φ is new — the pipeline is unchanged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9105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B6673"/>
                </a:solidFill>
                <a:latin typeface="Arial"/>
              </a:rPr>
              <a:t>Close-contact channel — same flow as 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3291840" cy="1298448"/>
          </a:xfrm>
          <a:prstGeom prst="roundRect">
            <a:avLst>
              <a:gd name="adj" fmla="val 5633"/>
            </a:avLst>
          </a:prstGeom>
          <a:solidFill>
            <a:srgbClr val="F2F4F6"/>
          </a:solidFill>
          <a:ln w="15240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482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F2733"/>
                </a:solidFill>
                <a:latin typeface="Arial"/>
              </a:rPr>
              <a:t>EIGEN-DECOMPOSE</a:t>
            </a:r>
          </a:p>
        </p:txBody>
      </p:sp>
      <p:pic>
        <p:nvPicPr>
          <p:cNvPr id="10" name="Picture 9" descr="eq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388870"/>
            <a:ext cx="1188720" cy="2697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880360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B6673"/>
                </a:solidFill>
                <a:latin typeface="Arial"/>
              </a:rPr>
              <a:t>population spread → axes V, variances 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920240"/>
            <a:ext cx="3291840" cy="1298448"/>
          </a:xfrm>
          <a:prstGeom prst="roundRect">
            <a:avLst>
              <a:gd name="adj" fmla="val 5633"/>
            </a:avLst>
          </a:prstGeom>
          <a:solidFill>
            <a:srgbClr val="F2F4F6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0482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C0392B"/>
                </a:solidFill>
                <a:latin typeface="Arial"/>
              </a:rPr>
              <a:t>FLOOR THE AXES</a:t>
            </a:r>
          </a:p>
        </p:txBody>
      </p:sp>
      <p:pic>
        <p:nvPicPr>
          <p:cNvPr id="14" name="Picture 13" descr="eq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798" y="2347722"/>
            <a:ext cx="1714500" cy="3520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90288" y="2880360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B6673"/>
                </a:solidFill>
                <a:latin typeface="Arial"/>
              </a:rPr>
              <a:t>lift any collapsed axis up to the floor 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03336" y="1920240"/>
            <a:ext cx="3291840" cy="1298448"/>
          </a:xfrm>
          <a:prstGeom prst="roundRect">
            <a:avLst>
              <a:gd name="adj" fmla="val 5633"/>
            </a:avLst>
          </a:prstGeom>
          <a:solidFill>
            <a:srgbClr val="F2F4F6"/>
          </a:solidFill>
          <a:ln w="15240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20482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F2733"/>
                </a:solidFill>
                <a:latin typeface="Arial"/>
              </a:rPr>
              <a:t>SAMPLE CHILD</a:t>
            </a:r>
          </a:p>
        </p:txBody>
      </p:sp>
      <p:pic>
        <p:nvPicPr>
          <p:cNvPr id="18" name="Picture 17" descr="eq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558" y="2297430"/>
            <a:ext cx="2025396" cy="4526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40496" y="2880360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B6673"/>
                </a:solidFill>
                <a:latin typeface="Arial"/>
              </a:rPr>
              <a:t>draw from the floored ellipse (step σ_i, noise z)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950208" y="2377440"/>
            <a:ext cx="365760" cy="310896"/>
          </a:xfrm>
          <a:prstGeom prst="rightArrow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900416" y="2377440"/>
            <a:ext cx="365760" cy="310896"/>
          </a:xfrm>
          <a:prstGeom prst="rightArrow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493008"/>
            <a:ext cx="11183112" cy="2743200"/>
          </a:xfrm>
          <a:prstGeom prst="roundRect">
            <a:avLst>
              <a:gd name="adj" fmla="val 2666"/>
            </a:avLst>
          </a:prstGeom>
          <a:solidFill>
            <a:srgbClr val="FCF2F0"/>
          </a:solidFill>
          <a:ln w="15240">
            <a:solidFill>
              <a:srgbClr val="E6C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5916168" y="3200400"/>
            <a:ext cx="310896" cy="347472"/>
          </a:xfrm>
          <a:prstGeom prst="down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3657600"/>
            <a:ext cx="64008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675887"/>
            <a:ext cx="5852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733"/>
                </a:solidFill>
                <a:latin typeface="Arial"/>
              </a:rPr>
              <a:t>The floor φ is now adaptive</a:t>
            </a:r>
          </a:p>
        </p:txBody>
      </p:sp>
      <p:pic>
        <p:nvPicPr>
          <p:cNvPr id="26" name="Picture 25" descr="eq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9626" y="4238244"/>
            <a:ext cx="3973068" cy="30175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4718304"/>
            <a:ext cx="5577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B6673"/>
                </a:solidFill>
                <a:latin typeface="Arial"/>
              </a:rPr>
              <a:t>EMA = exponential moving average — smooths out transient blips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3419856" y="5029200"/>
            <a:ext cx="292608" cy="274320"/>
          </a:xfrm>
          <a:prstGeom prst="downArrow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eq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64642" y="5212079"/>
            <a:ext cx="8261604" cy="768096"/>
          </a:xfrm>
          <a:prstGeom prst="rect">
            <a:avLst/>
          </a:prstGeom>
        </p:spPr>
      </p:pic>
      <p:pic>
        <p:nvPicPr>
          <p:cNvPr id="30" name="Picture 29" descr="illu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4151376"/>
            <a:ext cx="4754880" cy="13680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② Adaptive anisotropy floor — result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19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17320"/>
            <a:ext cx="37033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733"/>
                </a:solidFill>
                <a:latin typeface="Arial"/>
              </a:rPr>
              <a:t>F10-EllipsoidalRot  /  seed 300</a:t>
            </a:r>
          </a:p>
        </p:txBody>
      </p:sp>
      <p:pic>
        <p:nvPicPr>
          <p:cNvPr id="7" name="Picture 6" descr="f10_map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83080"/>
            <a:ext cx="1737360" cy="1737360"/>
          </a:xfrm>
          <a:prstGeom prst="rect">
            <a:avLst/>
          </a:prstGeom>
        </p:spPr>
      </p:pic>
      <p:pic>
        <p:nvPicPr>
          <p:cNvPr id="8" name="Picture 7" descr="f10_surf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837944"/>
            <a:ext cx="1828800" cy="1603899"/>
          </a:xfrm>
          <a:prstGeom prst="rect">
            <a:avLst/>
          </a:prstGeom>
        </p:spPr>
      </p:pic>
      <p:pic>
        <p:nvPicPr>
          <p:cNvPr id="9" name="Picture 8" descr="f10_conv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508760"/>
            <a:ext cx="5577840" cy="23388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4041648"/>
            <a:ext cx="37033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733"/>
                </a:solidFill>
                <a:latin typeface="Arial"/>
              </a:rPr>
              <a:t>F19-GriewankRosenbrock  /  seed 1400</a:t>
            </a:r>
          </a:p>
        </p:txBody>
      </p:sp>
      <p:pic>
        <p:nvPicPr>
          <p:cNvPr id="11" name="Picture 10" descr="f19_map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407408"/>
            <a:ext cx="1737360" cy="1737360"/>
          </a:xfrm>
          <a:prstGeom prst="rect">
            <a:avLst/>
          </a:prstGeom>
        </p:spPr>
      </p:pic>
      <p:pic>
        <p:nvPicPr>
          <p:cNvPr id="12" name="Picture 11" descr="f19_surf.em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4462272"/>
            <a:ext cx="1828800" cy="1603899"/>
          </a:xfrm>
          <a:prstGeom prst="rect">
            <a:avLst/>
          </a:prstGeom>
        </p:spPr>
      </p:pic>
      <p:pic>
        <p:nvPicPr>
          <p:cNvPr id="13" name="Picture 12" descr="f19_conv.em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4133088"/>
            <a:ext cx="5577840" cy="233880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② Adaptive anisotropy floor — per-function SR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20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Net +3.1 pt — the largest single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45335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5B6673"/>
                </a:solidFill>
                <a:latin typeface="Arial"/>
              </a:rPr>
              <a:t>change-ablation / BBOB-24 / dim 2 / n = 20 / functions whose SR@1e-10 moved</a:t>
            </a:r>
          </a:p>
        </p:txBody>
      </p:sp>
      <p:pic>
        <p:nvPicPr>
          <p:cNvPr id="8" name="Picture 7" descr="sr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7" y="1874519"/>
            <a:ext cx="8961120" cy="451529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③ Channel router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21 / 45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3767328"/>
            <a:ext cx="11185855" cy="0"/>
          </a:xfrm>
          <a:prstGeom prst="line">
            <a:avLst/>
          </a:prstGeom>
          <a:ln w="1270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984248"/>
            <a:ext cx="1600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Transmission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channels</a:t>
            </a:r>
          </a:p>
          <a:p>
            <a:pPr algn="l">
              <a:spcBef>
                <a:spcPts val="1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three parallel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reproduction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3412" y="14813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Arial"/>
              </a:rPr>
              <a:t>Droplet</a:t>
            </a:r>
          </a:p>
        </p:txBody>
      </p:sp>
      <p:pic>
        <p:nvPicPr>
          <p:cNvPr id="9" name="Picture 8" descr="droplet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572" y="1865376"/>
            <a:ext cx="2743200" cy="16051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62956" y="14813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E6DA4"/>
                </a:solidFill>
                <a:latin typeface="Arial"/>
              </a:rPr>
              <a:t>Close-contact</a:t>
            </a:r>
          </a:p>
        </p:txBody>
      </p:sp>
      <p:pic>
        <p:nvPicPr>
          <p:cNvPr id="11" name="Picture 10" descr="contact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116" y="1865376"/>
            <a:ext cx="2743200" cy="16051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72500" y="14813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4A8B5C"/>
                </a:solidFill>
                <a:latin typeface="Arial"/>
              </a:rPr>
              <a:t>Airborne</a:t>
            </a:r>
          </a:p>
        </p:txBody>
      </p:sp>
      <p:pic>
        <p:nvPicPr>
          <p:cNvPr id="13" name="Picture 12" descr="airborne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660" y="1865376"/>
            <a:ext cx="2743200" cy="16051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4498848"/>
            <a:ext cx="1600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Population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strategies</a:t>
            </a:r>
          </a:p>
          <a:p>
            <a:pPr algn="l">
              <a:spcBef>
                <a:spcPts val="1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how the swarm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is steered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3412" y="409651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E8B8B"/>
                </a:solidFill>
                <a:latin typeface="Arial"/>
              </a:rPr>
              <a:t>Strain coexistence</a:t>
            </a:r>
          </a:p>
        </p:txBody>
      </p:sp>
      <p:pic>
        <p:nvPicPr>
          <p:cNvPr id="16" name="Picture 15" descr="strain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0572" y="4480560"/>
            <a:ext cx="2743200" cy="160515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130552" y="3913632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2956" y="409651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6B4E9E"/>
                </a:solidFill>
                <a:latin typeface="Arial"/>
              </a:rPr>
              <a:t>Restart  (spillover)</a:t>
            </a:r>
          </a:p>
        </p:txBody>
      </p:sp>
      <p:pic>
        <p:nvPicPr>
          <p:cNvPr id="19" name="Picture 18" descr="restart.em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0116" y="4480560"/>
            <a:ext cx="2743200" cy="160515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340096" y="3913632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2500" y="409651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F8A2B"/>
                </a:solidFill>
                <a:latin typeface="Arial"/>
              </a:rPr>
              <a:t>Drilling</a:t>
            </a:r>
          </a:p>
        </p:txBody>
      </p:sp>
      <p:pic>
        <p:nvPicPr>
          <p:cNvPr id="22" name="Picture 21" descr="drilling.em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9660" y="4480560"/>
            <a:ext cx="2743200" cy="1605154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549640" y="3913632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③ Channel router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22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Each run locks one route, read off its covariance shape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45152" y="1828800"/>
            <a:ext cx="0" cy="4498848"/>
          </a:xfrm>
          <a:prstGeom prst="line">
            <a:avLst/>
          </a:prstGeom>
          <a:ln w="15240">
            <a:solidFill>
              <a:srgbClr val="D9DC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942832" y="1828800"/>
            <a:ext cx="0" cy="4498848"/>
          </a:xfrm>
          <a:prstGeom prst="line">
            <a:avLst/>
          </a:prstGeom>
          <a:ln w="15240">
            <a:solidFill>
              <a:srgbClr val="D9DC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828800"/>
            <a:ext cx="3986784" cy="1517904"/>
          </a:xfrm>
          <a:prstGeom prst="roundRect">
            <a:avLst>
              <a:gd name="adj" fmla="val 4819"/>
            </a:avLst>
          </a:prstGeom>
          <a:solidFill>
            <a:srgbClr val="F2F4F6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3986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Arial"/>
              </a:rPr>
              <a:t>DROPLET</a:t>
            </a:r>
          </a:p>
        </p:txBody>
      </p:sp>
      <p:pic>
        <p:nvPicPr>
          <p:cNvPr id="11" name="Picture 10" descr="shape_droplet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249424"/>
            <a:ext cx="868680" cy="868680"/>
          </a:xfrm>
          <a:prstGeom prst="rect">
            <a:avLst/>
          </a:prstGeom>
        </p:spPr>
      </p:pic>
      <p:pic>
        <p:nvPicPr>
          <p:cNvPr id="12" name="Picture 11" descr="dec_drop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544" y="2500053"/>
            <a:ext cx="1745672" cy="394854"/>
          </a:xfrm>
          <a:prstGeom prst="rect">
            <a:avLst/>
          </a:prstGeom>
        </p:spPr>
      </p:pic>
      <p:pic>
        <p:nvPicPr>
          <p:cNvPr id="13" name="Picture 12" descr="budget_droplet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3401568"/>
            <a:ext cx="2578608" cy="300020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00600" y="1828800"/>
            <a:ext cx="3986784" cy="1517904"/>
          </a:xfrm>
          <a:prstGeom prst="roundRect">
            <a:avLst>
              <a:gd name="adj" fmla="val 4819"/>
            </a:avLst>
          </a:prstGeom>
          <a:solidFill>
            <a:srgbClr val="F2F4F6"/>
          </a:solidFill>
          <a:ln w="1524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938528"/>
            <a:ext cx="3986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E6DA4"/>
                </a:solidFill>
                <a:latin typeface="Arial"/>
              </a:rPr>
              <a:t>CLOSE</a:t>
            </a:r>
          </a:p>
        </p:txBody>
      </p:sp>
      <p:pic>
        <p:nvPicPr>
          <p:cNvPr id="16" name="Picture 15" descr="shape_close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056" y="2249424"/>
            <a:ext cx="868680" cy="868680"/>
          </a:xfrm>
          <a:prstGeom prst="rect">
            <a:avLst/>
          </a:prstGeom>
        </p:spPr>
      </p:pic>
      <p:pic>
        <p:nvPicPr>
          <p:cNvPr id="17" name="Picture 16" descr="dec_clo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4917" y="2281844"/>
            <a:ext cx="2506287" cy="831272"/>
          </a:xfrm>
          <a:prstGeom prst="rect">
            <a:avLst/>
          </a:prstGeom>
        </p:spPr>
      </p:pic>
      <p:pic>
        <p:nvPicPr>
          <p:cNvPr id="18" name="Picture 17" descr="budget_close.em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4688" y="3401568"/>
            <a:ext cx="2578608" cy="300020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098280" y="1828800"/>
            <a:ext cx="2578608" cy="1517904"/>
          </a:xfrm>
          <a:prstGeom prst="roundRect">
            <a:avLst>
              <a:gd name="adj" fmla="val 4819"/>
            </a:avLst>
          </a:prstGeom>
          <a:solidFill>
            <a:srgbClr val="F2F4F6"/>
          </a:solidFill>
          <a:ln w="15240">
            <a:solidFill>
              <a:srgbClr val="2F6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938528"/>
            <a:ext cx="2578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F6B3E"/>
                </a:solidFill>
                <a:latin typeface="Arial"/>
              </a:rPr>
              <a:t>KEEP-AIR</a:t>
            </a:r>
          </a:p>
        </p:txBody>
      </p:sp>
      <p:pic>
        <p:nvPicPr>
          <p:cNvPr id="21" name="Picture 20" descr="shape_keepair.em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3244" y="2249424"/>
            <a:ext cx="868680" cy="868680"/>
          </a:xfrm>
          <a:prstGeom prst="rect">
            <a:avLst/>
          </a:prstGeom>
        </p:spPr>
      </p:pic>
      <p:pic>
        <p:nvPicPr>
          <p:cNvPr id="22" name="Picture 21" descr="budget_keepair.em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8280" y="3401568"/>
            <a:ext cx="2578608" cy="300020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③ Channel router — result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23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17320"/>
            <a:ext cx="37033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733"/>
                </a:solidFill>
                <a:latin typeface="Arial"/>
              </a:rPr>
              <a:t>F11-Discus  /  seed 600</a:t>
            </a:r>
          </a:p>
        </p:txBody>
      </p:sp>
      <p:pic>
        <p:nvPicPr>
          <p:cNvPr id="7" name="Picture 6" descr="a_map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83080"/>
            <a:ext cx="1737360" cy="1737360"/>
          </a:xfrm>
          <a:prstGeom prst="rect">
            <a:avLst/>
          </a:prstGeom>
        </p:spPr>
      </p:pic>
      <p:pic>
        <p:nvPicPr>
          <p:cNvPr id="8" name="Picture 7" descr="a_surf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837944"/>
            <a:ext cx="1828800" cy="1603899"/>
          </a:xfrm>
          <a:prstGeom prst="rect">
            <a:avLst/>
          </a:prstGeom>
        </p:spPr>
      </p:pic>
      <p:pic>
        <p:nvPicPr>
          <p:cNvPr id="9" name="Picture 8" descr="a_conv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508760"/>
            <a:ext cx="5577840" cy="23388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4041648"/>
            <a:ext cx="37033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733"/>
                </a:solidFill>
                <a:latin typeface="Arial"/>
              </a:rPr>
              <a:t>F16-Weierstrass  /  seed 1200</a:t>
            </a:r>
          </a:p>
        </p:txBody>
      </p:sp>
      <p:pic>
        <p:nvPicPr>
          <p:cNvPr id="11" name="Picture 10" descr="b_map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407408"/>
            <a:ext cx="1737360" cy="1737360"/>
          </a:xfrm>
          <a:prstGeom prst="rect">
            <a:avLst/>
          </a:prstGeom>
        </p:spPr>
      </p:pic>
      <p:pic>
        <p:nvPicPr>
          <p:cNvPr id="12" name="Picture 11" descr="b_surf.em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4462272"/>
            <a:ext cx="1828800" cy="1603899"/>
          </a:xfrm>
          <a:prstGeom prst="rect">
            <a:avLst/>
          </a:prstGeom>
        </p:spPr>
      </p:pic>
      <p:pic>
        <p:nvPicPr>
          <p:cNvPr id="13" name="Picture 12" descr="b_conv.em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4133088"/>
            <a:ext cx="5577840" cy="233880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③ Channel router — per-function SR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24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Lifts exactly what it routes — net +0.8 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45335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5B6673"/>
                </a:solidFill>
                <a:latin typeface="Arial"/>
              </a:rPr>
              <a:t>change-ablation / BBOB-24 / dim 2 / n = 20 / functions whose SR@1e-10 moved</a:t>
            </a:r>
          </a:p>
        </p:txBody>
      </p:sp>
      <p:pic>
        <p:nvPicPr>
          <p:cNvPr id="8" name="Picture 7" descr="sr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7" y="1874519"/>
            <a:ext cx="8961120" cy="451529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④ Route-gated best2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25 / 45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3767328"/>
            <a:ext cx="11185855" cy="0"/>
          </a:xfrm>
          <a:prstGeom prst="line">
            <a:avLst/>
          </a:prstGeom>
          <a:ln w="1270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984248"/>
            <a:ext cx="1600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Transmission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channels</a:t>
            </a:r>
          </a:p>
          <a:p>
            <a:pPr algn="l">
              <a:spcBef>
                <a:spcPts val="1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three parallel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reproduction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3412" y="14813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Arial"/>
              </a:rPr>
              <a:t>Droplet</a:t>
            </a:r>
          </a:p>
        </p:txBody>
      </p:sp>
      <p:pic>
        <p:nvPicPr>
          <p:cNvPr id="9" name="Picture 8" descr="droplet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572" y="1865376"/>
            <a:ext cx="2743200" cy="16051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62956" y="14813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E6DA4"/>
                </a:solidFill>
                <a:latin typeface="Arial"/>
              </a:rPr>
              <a:t>Close-contact</a:t>
            </a:r>
          </a:p>
        </p:txBody>
      </p:sp>
      <p:pic>
        <p:nvPicPr>
          <p:cNvPr id="11" name="Picture 10" descr="contact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116" y="1865376"/>
            <a:ext cx="2743200" cy="160515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340096" y="1298448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500" y="14813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4A8B5C"/>
                </a:solidFill>
                <a:latin typeface="Arial"/>
              </a:rPr>
              <a:t>Airborne</a:t>
            </a:r>
          </a:p>
        </p:txBody>
      </p:sp>
      <p:pic>
        <p:nvPicPr>
          <p:cNvPr id="14" name="Picture 13" descr="airborne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660" y="1865376"/>
            <a:ext cx="2743200" cy="160515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549640" y="1298448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498848"/>
            <a:ext cx="1600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Population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strategies</a:t>
            </a:r>
          </a:p>
          <a:p>
            <a:pPr algn="l">
              <a:spcBef>
                <a:spcPts val="1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how the swarm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is steered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53412" y="409651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E8B8B"/>
                </a:solidFill>
                <a:latin typeface="Arial"/>
              </a:rPr>
              <a:t>Strain coexistence</a:t>
            </a:r>
          </a:p>
        </p:txBody>
      </p:sp>
      <p:pic>
        <p:nvPicPr>
          <p:cNvPr id="18" name="Picture 17" descr="strain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0572" y="4480560"/>
            <a:ext cx="2743200" cy="160515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130552" y="3913632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62956" y="409651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6B4E9E"/>
                </a:solidFill>
                <a:latin typeface="Arial"/>
              </a:rPr>
              <a:t>Restart  (spillover)</a:t>
            </a:r>
          </a:p>
        </p:txBody>
      </p:sp>
      <p:pic>
        <p:nvPicPr>
          <p:cNvPr id="21" name="Picture 20" descr="restart.em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0116" y="4480560"/>
            <a:ext cx="2743200" cy="160515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340096" y="3913632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2500" y="409651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F8A2B"/>
                </a:solidFill>
                <a:latin typeface="Arial"/>
              </a:rPr>
              <a:t>Drilling</a:t>
            </a:r>
          </a:p>
        </p:txBody>
      </p:sp>
      <p:pic>
        <p:nvPicPr>
          <p:cNvPr id="24" name="Picture 23" descr="drilling.em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9660" y="4480560"/>
            <a:ext cx="2743200" cy="160515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549640" y="3913632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④ Route-gated best2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26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A 2nd difference vector — only on droplet-routed runs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807" y="1682496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807" y="1682496"/>
            <a:ext cx="2926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F2733"/>
                </a:solidFill>
                <a:latin typeface="Arial"/>
              </a:rPr>
              <a:t>DROPLET Route?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7.5" y="2103120"/>
            <a:ext cx="0.0" cy="182880"/>
          </a:xfrm>
          <a:prstGeom prst="line">
            <a:avLst/>
          </a:prstGeom>
          <a:ln w="20320">
            <a:solidFill>
              <a:srgbClr val="9AA2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63240" y="2286000"/>
            <a:ext cx="6016752" cy="0"/>
          </a:xfrm>
          <a:prstGeom prst="line">
            <a:avLst/>
          </a:prstGeom>
          <a:ln w="20320">
            <a:solidFill>
              <a:srgbClr val="9AA2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63240" y="2286000"/>
            <a:ext cx="0" cy="146304"/>
          </a:xfrm>
          <a:prstGeom prst="line">
            <a:avLst/>
          </a:prstGeom>
          <a:ln w="20320">
            <a:solidFill>
              <a:srgbClr val="9AA2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77440" y="2432304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6B7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2432304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NO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40" y="2743200"/>
            <a:ext cx="0" cy="329184"/>
          </a:xfrm>
          <a:prstGeom prst="line">
            <a:avLst/>
          </a:prstGeom>
          <a:ln w="22860">
            <a:solidFill>
              <a:srgbClr val="6B747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79992" y="2286000"/>
            <a:ext cx="0" cy="146304"/>
          </a:xfrm>
          <a:prstGeom prst="line">
            <a:avLst/>
          </a:prstGeom>
          <a:ln w="20320">
            <a:solidFill>
              <a:srgbClr val="9AA2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94192" y="2432304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2432304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YES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79992" y="2743200"/>
            <a:ext cx="0" cy="329184"/>
          </a:xfrm>
          <a:prstGeom prst="line">
            <a:avLst/>
          </a:prstGeom>
          <a:ln w="22860">
            <a:solidFill>
              <a:srgbClr val="C0392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0120" y="3108960"/>
            <a:ext cx="4206240" cy="402336"/>
          </a:xfrm>
          <a:prstGeom prst="roundRect">
            <a:avLst>
              <a:gd name="adj" fmla="val 18181"/>
            </a:avLst>
          </a:prstGeom>
          <a:solidFill>
            <a:srgbClr val="F2F4F6"/>
          </a:solidFill>
          <a:ln w="15240">
            <a:solidFill>
              <a:srgbClr val="6B74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eq_si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938" y="3181281"/>
            <a:ext cx="3790603" cy="25769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473952" y="3108960"/>
            <a:ext cx="5212080" cy="402336"/>
          </a:xfrm>
          <a:prstGeom prst="roundRect">
            <a:avLst>
              <a:gd name="adj" fmla="val 18181"/>
            </a:avLst>
          </a:prstGeom>
          <a:solidFill>
            <a:srgbClr val="F2F4F6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eq_bes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988" y="3181281"/>
            <a:ext cx="4838007" cy="257694"/>
          </a:xfrm>
          <a:prstGeom prst="rect">
            <a:avLst/>
          </a:prstGeom>
        </p:spPr>
      </p:pic>
      <p:pic>
        <p:nvPicPr>
          <p:cNvPr id="23" name="Picture 22" descr="single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584448"/>
            <a:ext cx="2926080" cy="2510118"/>
          </a:xfrm>
          <a:prstGeom prst="rect">
            <a:avLst/>
          </a:prstGeom>
        </p:spPr>
      </p:pic>
      <p:pic>
        <p:nvPicPr>
          <p:cNvPr id="24" name="Picture 23" descr="best2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3584448"/>
            <a:ext cx="2926080" cy="251011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88720" y="6144768"/>
            <a:ext cx="37490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B6673"/>
                </a:solidFill>
                <a:latin typeface="Arial"/>
              </a:rPr>
              <a:t>off route — bit-identical to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2" y="6144768"/>
            <a:ext cx="37490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B6673"/>
                </a:solidFill>
                <a:latin typeface="Arial"/>
              </a:rPr>
              <a:t>on route — 2nd donor pair escapes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④ Route-gated best2 — result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27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17320"/>
            <a:ext cx="37033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733"/>
                </a:solidFill>
                <a:latin typeface="Arial"/>
              </a:rPr>
              <a:t>F13-SharpRidge  /  seed 300</a:t>
            </a:r>
          </a:p>
        </p:txBody>
      </p:sp>
      <p:pic>
        <p:nvPicPr>
          <p:cNvPr id="7" name="Picture 6" descr="a_map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83080"/>
            <a:ext cx="1737360" cy="1737360"/>
          </a:xfrm>
          <a:prstGeom prst="rect">
            <a:avLst/>
          </a:prstGeom>
        </p:spPr>
      </p:pic>
      <p:pic>
        <p:nvPicPr>
          <p:cNvPr id="8" name="Picture 7" descr="a_surf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837944"/>
            <a:ext cx="1828800" cy="1603899"/>
          </a:xfrm>
          <a:prstGeom prst="rect">
            <a:avLst/>
          </a:prstGeom>
        </p:spPr>
      </p:pic>
      <p:pic>
        <p:nvPicPr>
          <p:cNvPr id="9" name="Picture 8" descr="a_conv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508760"/>
            <a:ext cx="5577840" cy="23388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4041648"/>
            <a:ext cx="37033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733"/>
                </a:solidFill>
                <a:latin typeface="Arial"/>
              </a:rPr>
              <a:t>F14-DiffPowers  /  seed 500</a:t>
            </a:r>
          </a:p>
        </p:txBody>
      </p:sp>
      <p:pic>
        <p:nvPicPr>
          <p:cNvPr id="11" name="Picture 10" descr="b_map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407408"/>
            <a:ext cx="1737360" cy="1737360"/>
          </a:xfrm>
          <a:prstGeom prst="rect">
            <a:avLst/>
          </a:prstGeom>
        </p:spPr>
      </p:pic>
      <p:pic>
        <p:nvPicPr>
          <p:cNvPr id="12" name="Picture 11" descr="b_surf.em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4462272"/>
            <a:ext cx="1828800" cy="1603899"/>
          </a:xfrm>
          <a:prstGeom prst="rect">
            <a:avLst/>
          </a:prstGeom>
        </p:spPr>
      </p:pic>
      <p:pic>
        <p:nvPicPr>
          <p:cNvPr id="13" name="Picture 12" descr="b_conv.em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4133088"/>
            <a:ext cx="5577840" cy="233880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④ Route-gated best2 — per-function SR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28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F13/F14 jump to 100% — net +2.1 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45335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5B6673"/>
                </a:solidFill>
                <a:latin typeface="Arial"/>
              </a:rPr>
              <a:t>change-ablation / BBOB-24 / dim 2 / n = 20 / functions whose SR@1e-10 moved</a:t>
            </a:r>
          </a:p>
        </p:txBody>
      </p:sp>
      <p:pic>
        <p:nvPicPr>
          <p:cNvPr id="8" name="Picture 7" descr="sr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7" y="1874519"/>
            <a:ext cx="8961120" cy="451529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The four changes together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29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SR@1e-10 by function, base → MC-ESO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91056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5B6673"/>
                </a:solidFill>
                <a:latin typeface="Arial"/>
              </a:rPr>
              <a:t>change-ablation / BBOB-24 / dim 2 / n = 20 / base → +restart → +floor → +router → +best2</a:t>
            </a:r>
          </a:p>
        </p:txBody>
      </p:sp>
      <p:pic>
        <p:nvPicPr>
          <p:cNvPr id="8" name="Picture 7" descr="sr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920240"/>
            <a:ext cx="10972800" cy="382310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Ill-conditioned valleys converge ~2× faster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3 —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30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Same SR, about half the evaluations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91056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5B6673"/>
                </a:solidFill>
                <a:latin typeface="Arial"/>
              </a:rPr>
              <a:t>evals-to-success / same ablation ladder / BBOB-24 / dim 2 / n = 20</a:t>
            </a:r>
          </a:p>
        </p:txBody>
      </p:sp>
      <p:pic>
        <p:nvPicPr>
          <p:cNvPr id="8" name="Picture 7" descr="evals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920240"/>
            <a:ext cx="10972800" cy="382310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54480"/>
            <a:ext cx="2926080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0" b="1" i="0">
                <a:solidFill>
                  <a:srgbClr val="E8A9A0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0" y="2788920"/>
            <a:ext cx="80467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F2733"/>
                </a:solidFill>
                <a:latin typeface="Arial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1880" y="370332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5B6673"/>
                </a:solidFill>
                <a:latin typeface="Arial"/>
              </a:rPr>
              <a:t>MC-ESO vs existing methods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The comparison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4 —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32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Five baselines — colours match the curves that follow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47088"/>
            <a:ext cx="111831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9224" y="2002536"/>
            <a:ext cx="100584" cy="402336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847088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77B4"/>
                </a:solidFill>
                <a:latin typeface="Arial"/>
              </a:rPr>
              <a:t>IPOP-CMA-ES</a:t>
            </a:r>
            <a:r>
              <a:rPr sz="1100" b="0" i="0">
                <a:solidFill>
                  <a:srgbClr val="5B6673"/>
                </a:solidFill>
                <a:latin typeface="Arial"/>
              </a:rPr>
              <a:t> 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47088"/>
            <a:ext cx="5760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733"/>
                </a:solidFill>
                <a:latin typeface="Arial"/>
              </a:rPr>
              <a:t>CMA-ES with restarts + growing population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2002536"/>
            <a:ext cx="2331720" cy="402336"/>
          </a:xfrm>
          <a:prstGeom prst="roundRect">
            <a:avLst>
              <a:gd name="adj" fmla="val 18181"/>
            </a:avLst>
          </a:prstGeom>
          <a:solidFill>
            <a:srgbClr val="DB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2002536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65581"/>
                </a:solidFill>
                <a:latin typeface="Arial"/>
              </a:rPr>
              <a:t>weak:  multimodal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88336"/>
            <a:ext cx="111831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" y="2843784"/>
            <a:ext cx="100584" cy="402336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2688336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7F0E"/>
                </a:solidFill>
                <a:latin typeface="Arial"/>
              </a:rPr>
              <a:t>PSO</a:t>
            </a:r>
            <a:r>
              <a:rPr sz="1100" b="0" i="0">
                <a:solidFill>
                  <a:srgbClr val="5B6673"/>
                </a:solidFill>
                <a:latin typeface="Arial"/>
              </a:rPr>
              <a:t>  [2]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688336"/>
            <a:ext cx="5760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733"/>
                </a:solidFill>
                <a:latin typeface="Arial"/>
              </a:rPr>
              <a:t>Inertia-weighted particle swarm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843784"/>
            <a:ext cx="2331720" cy="402336"/>
          </a:xfrm>
          <a:prstGeom prst="roundRect">
            <a:avLst>
              <a:gd name="adj" fmla="val 18181"/>
            </a:avLst>
          </a:prstGeom>
          <a:solidFill>
            <a:srgbClr val="FF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843784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B75B0A"/>
                </a:solidFill>
                <a:latin typeface="Arial"/>
              </a:rPr>
              <a:t>weak:  ill-conditioned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29584"/>
            <a:ext cx="111831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" y="3685032"/>
            <a:ext cx="100584" cy="402336"/>
          </a:xfrm>
          <a:prstGeom prst="rect">
            <a:avLst/>
          </a:prstGeom>
          <a:solidFill>
            <a:srgbClr val="946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3529584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467BD"/>
                </a:solidFill>
                <a:latin typeface="Arial"/>
              </a:rPr>
              <a:t>DE</a:t>
            </a:r>
            <a:r>
              <a:rPr sz="1100" b="0" i="0">
                <a:solidFill>
                  <a:srgbClr val="5B6673"/>
                </a:solidFill>
                <a:latin typeface="Arial"/>
              </a:rPr>
              <a:t>  [3]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529584"/>
            <a:ext cx="5760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733"/>
                </a:solidFill>
                <a:latin typeface="Arial"/>
              </a:rPr>
              <a:t>DE/rand/1/bin — the droplet channel's ancestor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3685032"/>
            <a:ext cx="2331720" cy="402336"/>
          </a:xfrm>
          <a:prstGeom prst="roundRect">
            <a:avLst>
              <a:gd name="adj" fmla="val 18181"/>
            </a:avLst>
          </a:prstGeom>
          <a:solidFill>
            <a:srgbClr val="EDE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3685032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6A4A88"/>
                </a:solidFill>
                <a:latin typeface="Arial"/>
              </a:rPr>
              <a:t>weak:  multimodal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370832"/>
            <a:ext cx="111831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" y="4526280"/>
            <a:ext cx="100584" cy="402336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" y="4370832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A02C"/>
                </a:solidFill>
                <a:latin typeface="Arial"/>
              </a:rPr>
              <a:t>SaVOA</a:t>
            </a:r>
            <a:r>
              <a:rPr sz="1100" b="0" i="0">
                <a:solidFill>
                  <a:srgbClr val="5B6673"/>
                </a:solidFill>
                <a:latin typeface="Arial"/>
              </a:rPr>
              <a:t>  [4]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370832"/>
            <a:ext cx="5760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733"/>
                </a:solidFill>
                <a:latin typeface="Arial"/>
              </a:rPr>
              <a:t>Self-adaptive virus optimization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4526280"/>
            <a:ext cx="2331720" cy="402336"/>
          </a:xfrm>
          <a:prstGeom prst="roundRect">
            <a:avLst>
              <a:gd name="adj" fmla="val 18181"/>
            </a:avLst>
          </a:prstGeom>
          <a:solidFill>
            <a:srgbClr val="DD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4526280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731F"/>
                </a:solidFill>
                <a:latin typeface="Arial"/>
              </a:rPr>
              <a:t>weak:  ill-conditioned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212080"/>
            <a:ext cx="111831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" y="5367528"/>
            <a:ext cx="100584" cy="402336"/>
          </a:xfrm>
          <a:prstGeom prst="rect">
            <a:avLst/>
          </a:prstGeom>
          <a:solidFill>
            <a:srgbClr val="8C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" y="521208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C564B"/>
                </a:solidFill>
                <a:latin typeface="Arial"/>
              </a:rPr>
              <a:t>NM-Restart</a:t>
            </a:r>
            <a:r>
              <a:rPr sz="1100" b="0" i="0">
                <a:solidFill>
                  <a:srgbClr val="5B6673"/>
                </a:solidFill>
                <a:latin typeface="Arial"/>
              </a:rPr>
              <a:t>  [5]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5212080"/>
            <a:ext cx="5760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733"/>
                </a:solidFill>
                <a:latin typeface="Arial"/>
              </a:rPr>
              <a:t>Restarted Nelder–Mead simplex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5367528"/>
            <a:ext cx="2331720" cy="402336"/>
          </a:xfrm>
          <a:prstGeom prst="roundRect">
            <a:avLst>
              <a:gd name="adj" fmla="val 18181"/>
            </a:avLst>
          </a:prstGeom>
          <a:solidFill>
            <a:srgbClr val="ECE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5367528"/>
            <a:ext cx="2331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643D36"/>
                </a:solidFill>
                <a:latin typeface="Arial"/>
              </a:rPr>
              <a:t>strong:  low-dim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16305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B6673"/>
                </a:solidFill>
                <a:latin typeface="Arial"/>
              </a:rPr>
              <a:t>Others (CMA-ES / BIPOP / L-SHADE / NCDE)  →  appendix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Where baselines struggle — multimodal &amp; ill-conditioned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4 —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33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81328"/>
            <a:ext cx="37033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733"/>
                </a:solidFill>
                <a:latin typeface="Arial"/>
              </a:rPr>
              <a:t>F03 / Rastrigin (separable) — multimodal</a:t>
            </a:r>
          </a:p>
        </p:txBody>
      </p:sp>
      <p:pic>
        <p:nvPicPr>
          <p:cNvPr id="7" name="Picture 6" descr="a_map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847088"/>
            <a:ext cx="1737360" cy="1737360"/>
          </a:xfrm>
          <a:prstGeom prst="rect">
            <a:avLst/>
          </a:prstGeom>
        </p:spPr>
      </p:pic>
      <p:pic>
        <p:nvPicPr>
          <p:cNvPr id="8" name="Picture 7" descr="a_surf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901952"/>
            <a:ext cx="1828800" cy="1603899"/>
          </a:xfrm>
          <a:prstGeom prst="rect">
            <a:avLst/>
          </a:prstGeom>
        </p:spPr>
      </p:pic>
      <p:pic>
        <p:nvPicPr>
          <p:cNvPr id="9" name="Picture 8" descr="a_con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572768"/>
            <a:ext cx="5806440" cy="1892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4160520"/>
            <a:ext cx="37033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733"/>
                </a:solidFill>
                <a:latin typeface="Arial"/>
              </a:rPr>
              <a:t>F11 / Discus — ill-conditioned</a:t>
            </a:r>
          </a:p>
        </p:txBody>
      </p:sp>
      <p:pic>
        <p:nvPicPr>
          <p:cNvPr id="11" name="Picture 10" descr="a_map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526280"/>
            <a:ext cx="1737360" cy="1737360"/>
          </a:xfrm>
          <a:prstGeom prst="rect">
            <a:avLst/>
          </a:prstGeom>
        </p:spPr>
      </p:pic>
      <p:pic>
        <p:nvPicPr>
          <p:cNvPr id="12" name="Picture 11" descr="a_surf.em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4581144"/>
            <a:ext cx="1828800" cy="1603899"/>
          </a:xfrm>
          <a:prstGeom prst="rect">
            <a:avLst/>
          </a:prstGeom>
        </p:spPr>
      </p:pic>
      <p:pic>
        <p:nvPicPr>
          <p:cNvPr id="13" name="Picture 12" descr="b_conv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4251960"/>
            <a:ext cx="5806440" cy="189237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Where baselines struggle — bent valley &amp; hardest case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4 —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34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81328"/>
            <a:ext cx="37033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733"/>
                </a:solidFill>
                <a:latin typeface="Arial"/>
              </a:rPr>
              <a:t>F08 / Rosenbrock — bent valley</a:t>
            </a:r>
          </a:p>
        </p:txBody>
      </p:sp>
      <p:pic>
        <p:nvPicPr>
          <p:cNvPr id="7" name="Picture 6" descr="c_map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847088"/>
            <a:ext cx="1737360" cy="1737360"/>
          </a:xfrm>
          <a:prstGeom prst="rect">
            <a:avLst/>
          </a:prstGeom>
        </p:spPr>
      </p:pic>
      <p:pic>
        <p:nvPicPr>
          <p:cNvPr id="8" name="Picture 7" descr="c_surf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901952"/>
            <a:ext cx="1828800" cy="1603899"/>
          </a:xfrm>
          <a:prstGeom prst="rect">
            <a:avLst/>
          </a:prstGeom>
        </p:spPr>
      </p:pic>
      <p:pic>
        <p:nvPicPr>
          <p:cNvPr id="9" name="Picture 8" descr="c_con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572768"/>
            <a:ext cx="5806440" cy="1892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4160520"/>
            <a:ext cx="37033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733"/>
                </a:solidFill>
                <a:latin typeface="Arial"/>
              </a:rPr>
              <a:t>F15 / Rastrigin (rotated) — hardest</a:t>
            </a:r>
          </a:p>
        </p:txBody>
      </p:sp>
      <p:pic>
        <p:nvPicPr>
          <p:cNvPr id="11" name="Picture 10" descr="d_map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526280"/>
            <a:ext cx="1737360" cy="1737360"/>
          </a:xfrm>
          <a:prstGeom prst="rect">
            <a:avLst/>
          </a:prstGeom>
        </p:spPr>
      </p:pic>
      <p:pic>
        <p:nvPicPr>
          <p:cNvPr id="12" name="Picture 11" descr="d_surf.em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4581144"/>
            <a:ext cx="1828800" cy="1603899"/>
          </a:xfrm>
          <a:prstGeom prst="rect">
            <a:avLst/>
          </a:prstGeom>
        </p:spPr>
      </p:pic>
      <p:pic>
        <p:nvPicPr>
          <p:cNvPr id="13" name="Picture 12" descr="d_conv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4251960"/>
            <a:ext cx="5806440" cy="189237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Standing today — first at deep precision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4 —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35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SR@1e-10 92.9% — DE overtaken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82496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5B6673"/>
                </a:solidFill>
                <a:latin typeface="Arial"/>
              </a:rPr>
              <a:t>each cell: SR@1e-10 (left) / evals-to-success (right) / BBOB-24 / dim 2 / n = 20</a:t>
            </a:r>
          </a:p>
        </p:txBody>
      </p:sp>
      <p:pic>
        <p:nvPicPr>
          <p:cNvPr id="8" name="Picture 7" descr="catsplit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011680"/>
            <a:ext cx="7589520" cy="3639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863840" y="2148840"/>
            <a:ext cx="13000" cy="3703320"/>
          </a:xfrm>
          <a:prstGeom prst="rect">
            <a:avLst/>
          </a:prstGeom>
          <a:solidFill>
            <a:srgbClr val="D0D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286000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2733"/>
                </a:solidFill>
                <a:latin typeface="Arial"/>
              </a:rPr>
              <a:t>Wilcoxon — vs each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697480"/>
            <a:ext cx="146304" cy="146304"/>
          </a:xfrm>
          <a:prstGeom prst="rect">
            <a:avLst/>
          </a:prstGeom>
          <a:solidFill>
            <a:srgbClr val="4A8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264261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673"/>
                </a:solidFill>
                <a:latin typeface="Arial"/>
              </a:rPr>
              <a:t>win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51392" y="2697480"/>
            <a:ext cx="146304" cy="146304"/>
          </a:xfrm>
          <a:prstGeom prst="rect">
            <a:avLst/>
          </a:prstGeom>
          <a:solidFill>
            <a:srgbClr val="D3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64261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673"/>
                </a:solidFill>
                <a:latin typeface="Arial"/>
              </a:rPr>
              <a:t>tie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64624" y="2697480"/>
            <a:ext cx="146304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5792" y="264261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673"/>
                </a:solidFill>
                <a:latin typeface="Arial"/>
              </a:rPr>
              <a:t>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246120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2733"/>
                </a:solidFill>
                <a:latin typeface="Arial"/>
              </a:rPr>
              <a:t>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2600" y="3282696"/>
            <a:ext cx="198120" cy="274320"/>
          </a:xfrm>
          <a:prstGeom prst="rect">
            <a:avLst/>
          </a:prstGeom>
          <a:solidFill>
            <a:srgbClr val="4A8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3282696"/>
            <a:ext cx="198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70720" y="3282696"/>
            <a:ext cx="2080260" cy="274320"/>
          </a:xfrm>
          <a:prstGeom prst="rect">
            <a:avLst/>
          </a:prstGeom>
          <a:solidFill>
            <a:srgbClr val="D3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0720" y="3282696"/>
            <a:ext cx="20802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F2733"/>
                </a:solidFill>
                <a:latin typeface="Arial"/>
              </a:rPr>
              <a:t>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650980" y="3282696"/>
            <a:ext cx="9906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50980" y="3282696"/>
            <a:ext cx="990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794760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2733"/>
                </a:solidFill>
                <a:latin typeface="Arial"/>
              </a:rPr>
              <a:t>IPOP-CMA-ES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72600" y="3831336"/>
            <a:ext cx="594360" cy="274320"/>
          </a:xfrm>
          <a:prstGeom prst="rect">
            <a:avLst/>
          </a:prstGeom>
          <a:solidFill>
            <a:srgbClr val="4A8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3831336"/>
            <a:ext cx="594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3831336"/>
            <a:ext cx="1783080" cy="274320"/>
          </a:xfrm>
          <a:prstGeom prst="rect">
            <a:avLst/>
          </a:prstGeom>
          <a:solidFill>
            <a:srgbClr val="D3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3831336"/>
            <a:ext cx="1783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F2733"/>
                </a:solidFill>
                <a:latin typeface="Arial"/>
              </a:rPr>
              <a:t>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343400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2733"/>
                </a:solidFill>
                <a:latin typeface="Arial"/>
              </a:rPr>
              <a:t>NM-Restart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2600" y="4379976"/>
            <a:ext cx="990600" cy="274320"/>
          </a:xfrm>
          <a:prstGeom prst="rect">
            <a:avLst/>
          </a:prstGeom>
          <a:solidFill>
            <a:srgbClr val="4A8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4379976"/>
            <a:ext cx="990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63200" y="4379976"/>
            <a:ext cx="1287780" cy="274320"/>
          </a:xfrm>
          <a:prstGeom prst="rect">
            <a:avLst/>
          </a:prstGeom>
          <a:solidFill>
            <a:srgbClr val="D3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63200" y="4379976"/>
            <a:ext cx="12877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F2733"/>
                </a:solidFill>
                <a:latin typeface="Arial"/>
              </a:rPr>
              <a:t>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650980" y="4379976"/>
            <a:ext cx="9906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650980" y="4379976"/>
            <a:ext cx="990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892040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2733"/>
                </a:solidFill>
                <a:latin typeface="Arial"/>
              </a:rPr>
              <a:t>SaVOA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72600" y="4928616"/>
            <a:ext cx="1089660" cy="274320"/>
          </a:xfrm>
          <a:prstGeom prst="rect">
            <a:avLst/>
          </a:prstGeom>
          <a:solidFill>
            <a:srgbClr val="4A8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4928616"/>
            <a:ext cx="10896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62260" y="4928616"/>
            <a:ext cx="1188720" cy="274320"/>
          </a:xfrm>
          <a:prstGeom prst="rect">
            <a:avLst/>
          </a:prstGeom>
          <a:solidFill>
            <a:srgbClr val="D3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62260" y="492861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F2733"/>
                </a:solidFill>
                <a:latin typeface="Arial"/>
              </a:rPr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650980" y="4928616"/>
            <a:ext cx="9906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0980" y="4928616"/>
            <a:ext cx="990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5440680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2733"/>
                </a:solidFill>
                <a:latin typeface="Arial"/>
              </a:rPr>
              <a:t>PSO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72600" y="5477256"/>
            <a:ext cx="1783080" cy="274320"/>
          </a:xfrm>
          <a:prstGeom prst="rect">
            <a:avLst/>
          </a:prstGeom>
          <a:solidFill>
            <a:srgbClr val="4A8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72600" y="5477256"/>
            <a:ext cx="1783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155680" y="5477256"/>
            <a:ext cx="594360" cy="274320"/>
          </a:xfrm>
          <a:prstGeom prst="rect">
            <a:avLst/>
          </a:prstGeom>
          <a:solidFill>
            <a:srgbClr val="D3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155680" y="5477256"/>
            <a:ext cx="594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F273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54480"/>
            <a:ext cx="2926080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0" b="1" i="0">
                <a:solidFill>
                  <a:srgbClr val="E8A9A0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0" y="2788920"/>
            <a:ext cx="80467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F2733"/>
                </a:solidFill>
                <a:latin typeface="Arial"/>
              </a:rPr>
              <a:t>Multimodality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1880" y="370332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5B6673"/>
                </a:solidFill>
                <a:latin typeface="Arial"/>
              </a:rPr>
              <a:t>The deferred axis — partial progress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Multimodality — SR hides the gap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5 — Multimodality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37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SR is 100%, yet few optima are found (low PR)</a:t>
            </a:r>
          </a:p>
        </p:txBody>
      </p:sp>
      <p:pic>
        <p:nvPicPr>
          <p:cNvPr id="7" name="Picture 6" descr="shape_himmelblau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828800"/>
            <a:ext cx="2331720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4068" y="4325112"/>
            <a:ext cx="3529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F2733"/>
                </a:solidFill>
                <a:latin typeface="Arial"/>
              </a:rPr>
              <a:t>C01 Himmelblau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" y="4727448"/>
            <a:ext cx="35295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5B6673"/>
                </a:solidFill>
                <a:latin typeface="Arial"/>
              </a:rPr>
              <a:t>K = 4 optima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" y="5166360"/>
            <a:ext cx="3529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673"/>
                </a:solidFill>
                <a:latin typeface="Arial"/>
              </a:rPr>
              <a:t>SR@1e-10  </a:t>
            </a:r>
            <a:r>
              <a:rPr sz="1700" b="1" i="0">
                <a:solidFill>
                  <a:srgbClr val="2F6B3E"/>
                </a:solidFill>
                <a:latin typeface="Arial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" y="5623560"/>
            <a:ext cx="3529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673"/>
                </a:solidFill>
                <a:latin typeface="Arial"/>
              </a:rPr>
              <a:t>PR@1e-4  </a:t>
            </a:r>
            <a:r>
              <a:rPr sz="1700" b="1" i="0">
                <a:solidFill>
                  <a:srgbClr val="C0392B"/>
                </a:solidFill>
                <a:latin typeface="Arial"/>
              </a:rPr>
              <a:t>0.28</a:t>
            </a:r>
          </a:p>
        </p:txBody>
      </p:sp>
      <p:pic>
        <p:nvPicPr>
          <p:cNvPr id="12" name="Picture 11" descr="shape_sixhump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5" y="1828800"/>
            <a:ext cx="2331720" cy="2331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29683" y="4325112"/>
            <a:ext cx="3529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F2733"/>
                </a:solidFill>
                <a:latin typeface="Arial"/>
              </a:rPr>
              <a:t>C02 Six-hump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9683" y="4727448"/>
            <a:ext cx="35295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5B6673"/>
                </a:solidFill>
                <a:latin typeface="Arial"/>
              </a:rPr>
              <a:t>K = 2 optima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9683" y="5166360"/>
            <a:ext cx="3529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673"/>
                </a:solidFill>
                <a:latin typeface="Arial"/>
              </a:rPr>
              <a:t>SR@1e-10  </a:t>
            </a:r>
            <a:r>
              <a:rPr sz="1700" b="1" i="0">
                <a:solidFill>
                  <a:srgbClr val="2F6B3E"/>
                </a:solidFill>
                <a:latin typeface="Arial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9683" y="5623560"/>
            <a:ext cx="3529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673"/>
                </a:solidFill>
                <a:latin typeface="Arial"/>
              </a:rPr>
              <a:t>PR@1e-4  </a:t>
            </a:r>
            <a:r>
              <a:rPr sz="1700" b="1" i="0">
                <a:solidFill>
                  <a:srgbClr val="C0392B"/>
                </a:solidFill>
                <a:latin typeface="Arial"/>
              </a:rPr>
              <a:t>0.60</a:t>
            </a:r>
          </a:p>
        </p:txBody>
      </p:sp>
      <p:pic>
        <p:nvPicPr>
          <p:cNvPr id="17" name="Picture 16" descr="shape_shubert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4232" y="1828800"/>
            <a:ext cx="2331720" cy="2331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15300" y="4325112"/>
            <a:ext cx="3529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F2733"/>
                </a:solidFill>
                <a:latin typeface="Arial"/>
              </a:rPr>
              <a:t>C03 Shubert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5300" y="4727448"/>
            <a:ext cx="35295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5B6673"/>
                </a:solidFill>
                <a:latin typeface="Arial"/>
              </a:rPr>
              <a:t>K = 18 optima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5300" y="5166360"/>
            <a:ext cx="3529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673"/>
                </a:solidFill>
                <a:latin typeface="Arial"/>
              </a:rPr>
              <a:t>SR@1e-10  </a:t>
            </a:r>
            <a:r>
              <a:rPr sz="1700" b="1" i="0">
                <a:solidFill>
                  <a:srgbClr val="2F6B3E"/>
                </a:solidFill>
                <a:latin typeface="Arial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5300" y="5623560"/>
            <a:ext cx="3529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673"/>
                </a:solidFill>
                <a:latin typeface="Arial"/>
              </a:rPr>
              <a:t>PR@1e-4  </a:t>
            </a:r>
            <a:r>
              <a:rPr sz="1700" b="1" i="0">
                <a:solidFill>
                  <a:srgbClr val="C0392B"/>
                </a:solidFill>
                <a:latin typeface="Arial"/>
              </a:rPr>
              <a:t>0.06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Sequential niching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5 — Multimodality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38 / 45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3767328"/>
            <a:ext cx="11185855" cy="0"/>
          </a:xfrm>
          <a:prstGeom prst="line">
            <a:avLst/>
          </a:prstGeom>
          <a:ln w="1270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984248"/>
            <a:ext cx="1600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Transmission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channels</a:t>
            </a:r>
          </a:p>
          <a:p>
            <a:pPr algn="l">
              <a:spcBef>
                <a:spcPts val="1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three parallel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reproduction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3412" y="14813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Arial"/>
              </a:rPr>
              <a:t>Droplet</a:t>
            </a:r>
          </a:p>
        </p:txBody>
      </p:sp>
      <p:pic>
        <p:nvPicPr>
          <p:cNvPr id="9" name="Picture 8" descr="droplet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572" y="1865376"/>
            <a:ext cx="2743200" cy="160515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130552" y="1298448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62956" y="14813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E6DA4"/>
                </a:solidFill>
                <a:latin typeface="Arial"/>
              </a:rPr>
              <a:t>Close-contact</a:t>
            </a:r>
          </a:p>
        </p:txBody>
      </p:sp>
      <p:pic>
        <p:nvPicPr>
          <p:cNvPr id="12" name="Picture 11" descr="contact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116" y="1865376"/>
            <a:ext cx="2743200" cy="160515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340096" y="1298448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500" y="14813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4A8B5C"/>
                </a:solidFill>
                <a:latin typeface="Arial"/>
              </a:rPr>
              <a:t>Airborne</a:t>
            </a:r>
          </a:p>
        </p:txBody>
      </p:sp>
      <p:pic>
        <p:nvPicPr>
          <p:cNvPr id="15" name="Picture 14" descr="airborne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660" y="1865376"/>
            <a:ext cx="2743200" cy="160515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549640" y="1298448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98848"/>
            <a:ext cx="1600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Population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F2733"/>
                </a:solidFill>
                <a:latin typeface="Arial"/>
              </a:rPr>
              <a:t>strategies</a:t>
            </a:r>
          </a:p>
          <a:p>
            <a:pPr algn="l">
              <a:spcBef>
                <a:spcPts val="1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how the swarm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5B6673"/>
                </a:solidFill>
                <a:latin typeface="Arial"/>
              </a:rPr>
              <a:t>is steered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3412" y="409651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E8B8B"/>
                </a:solidFill>
                <a:latin typeface="Arial"/>
              </a:rPr>
              <a:t>Strain coexistence</a:t>
            </a:r>
          </a:p>
        </p:txBody>
      </p:sp>
      <p:pic>
        <p:nvPicPr>
          <p:cNvPr id="19" name="Picture 18" descr="strain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0572" y="4480560"/>
            <a:ext cx="2743200" cy="160515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62956" y="409651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6B4E9E"/>
                </a:solidFill>
                <a:latin typeface="Arial"/>
              </a:rPr>
              <a:t>Restart  (spillover)</a:t>
            </a:r>
          </a:p>
        </p:txBody>
      </p:sp>
      <p:pic>
        <p:nvPicPr>
          <p:cNvPr id="21" name="Picture 20" descr="restart.em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0116" y="4480560"/>
            <a:ext cx="2743200" cy="160515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340096" y="3913632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2500" y="409651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F8A2B"/>
                </a:solidFill>
                <a:latin typeface="Arial"/>
              </a:rPr>
              <a:t>Drilling</a:t>
            </a:r>
          </a:p>
        </p:txBody>
      </p:sp>
      <p:pic>
        <p:nvPicPr>
          <p:cNvPr id="24" name="Picture 23" descr="drilling.em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9660" y="4480560"/>
            <a:ext cx="2743200" cy="160515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549640" y="3913632"/>
            <a:ext cx="3063240" cy="2331720"/>
          </a:xfrm>
          <a:prstGeom prst="rect">
            <a:avLst/>
          </a:prstGeom>
          <a:solidFill>
            <a:srgbClr val="0A0E14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Sequential niching — more optima, SR untouched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5 — Multimodality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39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One run captures optima one at a time — SR@1e-10 stays 100%</a:t>
            </a:r>
          </a:p>
        </p:txBody>
      </p:sp>
      <p:pic>
        <p:nvPicPr>
          <p:cNvPr id="7" name="Picture 6" descr="sequence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3840480" cy="34428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48640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2733"/>
                </a:solidFill>
                <a:latin typeface="Arial"/>
              </a:rPr>
              <a:t>① drill a basin to 1e-10</a:t>
            </a:r>
            <a:r>
              <a:rPr sz="1200" b="0" i="0">
                <a:solidFill>
                  <a:srgbClr val="5B6673"/>
                </a:solidFill>
                <a:latin typeface="Arial"/>
              </a:rPr>
              <a:t>  — like base</a:t>
            </a:r>
          </a:p>
          <a:p>
            <a:pPr algn="l">
              <a:spcBef>
                <a:spcPts val="800"/>
              </a:spcBef>
            </a:pPr>
            <a:r>
              <a:rPr sz="1300" b="1" i="0">
                <a:solidFill>
                  <a:srgbClr val="C0392B"/>
                </a:solidFill>
                <a:latin typeface="Arial"/>
              </a:rPr>
              <a:t>② σ-exhausted → repelled restart</a:t>
            </a:r>
            <a:r>
              <a:rPr sz="1200" b="0" i="0">
                <a:solidFill>
                  <a:srgbClr val="5B6673"/>
                </a:solidFill>
                <a:latin typeface="Arial"/>
              </a:rPr>
              <a:t>  to the next optimum</a:t>
            </a:r>
          </a:p>
        </p:txBody>
      </p:sp>
      <p:pic>
        <p:nvPicPr>
          <p:cNvPr id="9" name="Picture 8" descr="pr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965960"/>
            <a:ext cx="6903720" cy="351405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54480"/>
            <a:ext cx="2926080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0" b="1" i="0">
                <a:solidFill>
                  <a:srgbClr val="E8A9A0"/>
                </a:solidFill>
                <a:latin typeface="Arial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0" y="2788920"/>
            <a:ext cx="80467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F2733"/>
                </a:solidFill>
                <a:latin typeface="Arial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1880" y="370332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5B6673"/>
                </a:solidFill>
                <a:latin typeface="Arial"/>
              </a:rPr>
              <a:t>Summary and what remains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Summary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6 —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41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The whole cycle in three 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64008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7904"/>
            <a:ext cx="32918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Arial"/>
              </a:rPr>
              <a:t>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3200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C0392B"/>
                </a:solidFill>
                <a:latin typeface="Arial"/>
              </a:rPr>
              <a:t>›  </a:t>
            </a:r>
            <a:r>
              <a:rPr sz="1400" b="0" i="0">
                <a:solidFill>
                  <a:srgbClr val="1F2733"/>
                </a:solidFill>
                <a:latin typeface="Arial"/>
              </a:rPr>
              <a:t>Uniform channel mix  →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C0392B"/>
                </a:solidFill>
                <a:latin typeface="Arial"/>
              </a:rPr>
              <a:t>›  </a:t>
            </a:r>
            <a:r>
              <a:rPr sz="1400" b="0" i="0">
                <a:solidFill>
                  <a:srgbClr val="1F2733"/>
                </a:solidFill>
                <a:latin typeface="Arial"/>
              </a:rPr>
              <a:t>landscape-aware routing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536192"/>
            <a:ext cx="64008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17904"/>
            <a:ext cx="32918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Arial"/>
              </a:rPr>
              <a:t>Mechanism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01952"/>
            <a:ext cx="3200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C0392B"/>
                </a:solidFill>
                <a:latin typeface="Arial"/>
              </a:rPr>
              <a:t>›  </a:t>
            </a:r>
            <a:r>
              <a:rPr sz="1400" b="0" i="0">
                <a:solidFill>
                  <a:srgbClr val="1F2733"/>
                </a:solidFill>
                <a:latin typeface="Arial"/>
              </a:rPr>
              <a:t>informed restart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C0392B"/>
                </a:solidFill>
                <a:latin typeface="Arial"/>
              </a:rPr>
              <a:t>›  </a:t>
            </a:r>
            <a:r>
              <a:rPr sz="1400" b="0" i="0">
                <a:solidFill>
                  <a:srgbClr val="1F2733"/>
                </a:solidFill>
                <a:latin typeface="Arial"/>
              </a:rPr>
              <a:t>adaptive floor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C0392B"/>
                </a:solidFill>
                <a:latin typeface="Arial"/>
              </a:rPr>
              <a:t>›  </a:t>
            </a:r>
            <a:r>
              <a:rPr sz="1400" b="0" i="0">
                <a:solidFill>
                  <a:srgbClr val="1F2733"/>
                </a:solidFill>
                <a:latin typeface="Arial"/>
              </a:rPr>
              <a:t>channel router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C0392B"/>
                </a:solidFill>
                <a:latin typeface="Arial"/>
              </a:rPr>
              <a:t>›  </a:t>
            </a:r>
            <a:r>
              <a:rPr sz="1400" b="0" i="0">
                <a:solidFill>
                  <a:srgbClr val="1F2733"/>
                </a:solidFill>
                <a:latin typeface="Arial"/>
              </a:rPr>
              <a:t>route-gated best2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9016" y="1536192"/>
            <a:ext cx="64008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517904"/>
            <a:ext cx="32918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Arial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1901952"/>
            <a:ext cx="3200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C0392B"/>
                </a:solidFill>
                <a:latin typeface="Arial"/>
              </a:rPr>
              <a:t>›  </a:t>
            </a:r>
            <a:r>
              <a:rPr sz="1400" b="0" i="0">
                <a:solidFill>
                  <a:srgbClr val="1F2733"/>
                </a:solidFill>
                <a:latin typeface="Arial"/>
              </a:rPr>
              <a:t>SR@1e-10  </a:t>
            </a:r>
            <a:r>
              <a:rPr sz="1400" b="1" i="0">
                <a:solidFill>
                  <a:srgbClr val="C0392B"/>
                </a:solidFill>
                <a:latin typeface="Arial"/>
              </a:rPr>
              <a:t>86.9 → 92.9%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C0392B"/>
                </a:solidFill>
                <a:latin typeface="Arial"/>
              </a:rPr>
              <a:t>›  </a:t>
            </a:r>
            <a:r>
              <a:rPr sz="1400" b="0" i="0">
                <a:solidFill>
                  <a:srgbClr val="1F2733"/>
                </a:solidFill>
                <a:latin typeface="Arial"/>
              </a:rPr>
              <a:t>top of 10 methods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C0392B"/>
                </a:solidFill>
                <a:latin typeface="Arial"/>
              </a:rPr>
              <a:t>›  </a:t>
            </a:r>
            <a:r>
              <a:rPr sz="1400" b="0" i="0">
                <a:solidFill>
                  <a:srgbClr val="1F2733"/>
                </a:solidFill>
                <a:latin typeface="Arial"/>
              </a:rPr>
              <a:t>valleys 2× faster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C0392B"/>
                </a:solidFill>
                <a:latin typeface="Arial"/>
              </a:rPr>
              <a:t>›  </a:t>
            </a:r>
            <a:r>
              <a:rPr sz="1400" b="0" i="0">
                <a:solidFill>
                  <a:srgbClr val="1F2733"/>
                </a:solidFill>
                <a:latin typeface="Arial"/>
              </a:rPr>
              <a:t>multi-solution ↑, SR kept</a:t>
            </a:r>
          </a:p>
        </p:txBody>
      </p:sp>
      <p:pic>
        <p:nvPicPr>
          <p:cNvPr id="16" name="Picture 15" descr="sr1e10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46704"/>
            <a:ext cx="3657600" cy="2801420"/>
          </a:xfrm>
          <a:prstGeom prst="rect">
            <a:avLst/>
          </a:prstGeom>
        </p:spPr>
      </p:pic>
      <p:pic>
        <p:nvPicPr>
          <p:cNvPr id="17" name="Picture 16" descr="catsplit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383280"/>
            <a:ext cx="6400800" cy="30693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Remaining 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6 —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42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Three directions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" y="1700784"/>
            <a:ext cx="3529584" cy="4462272"/>
          </a:xfrm>
          <a:prstGeom prst="roundRect">
            <a:avLst>
              <a:gd name="adj" fmla="val 2072"/>
            </a:avLst>
          </a:prstGeom>
          <a:solidFill>
            <a:srgbClr val="FFFFFF"/>
          </a:solidFill>
          <a:ln w="15240">
            <a:solidFill>
              <a:srgbClr val="A170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" y="1700784"/>
            <a:ext cx="3529584" cy="566928"/>
          </a:xfrm>
          <a:prstGeom prst="roundRect">
            <a:avLst>
              <a:gd name="adj" fmla="val 12903"/>
            </a:avLst>
          </a:prstGeom>
          <a:solidFill>
            <a:srgbClr val="A17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" y="2194560"/>
            <a:ext cx="3529584" cy="73152"/>
          </a:xfrm>
          <a:prstGeom prst="rect">
            <a:avLst/>
          </a:prstGeom>
          <a:solidFill>
            <a:srgbClr val="A17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" y="1700784"/>
            <a:ext cx="35295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Generalize the constants</a:t>
            </a:r>
          </a:p>
        </p:txBody>
      </p:sp>
      <p:pic>
        <p:nvPicPr>
          <p:cNvPr id="11" name="Picture 10" descr="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643922"/>
            <a:ext cx="3017520" cy="223536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67512" y="5175504"/>
            <a:ext cx="3090672" cy="786384"/>
          </a:xfrm>
          <a:prstGeom prst="roundRect">
            <a:avLst>
              <a:gd name="adj" fmla="val 9302"/>
            </a:avLst>
          </a:prstGeom>
          <a:solidFill>
            <a:srgbClr val="EE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175504"/>
            <a:ext cx="309067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A1702D"/>
                </a:solidFill>
                <a:latin typeface="Arial"/>
              </a:rPr>
              <a:t>thresholds may be BBOB-tuned — make them scale-derived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512" y="1700784"/>
            <a:ext cx="3529584" cy="4462272"/>
          </a:xfrm>
          <a:prstGeom prst="roundRect">
            <a:avLst>
              <a:gd name="adj" fmla="val 2072"/>
            </a:avLst>
          </a:prstGeom>
          <a:solidFill>
            <a:srgbClr val="FFFFFF"/>
          </a:solidFill>
          <a:ln w="15240">
            <a:solidFill>
              <a:srgbClr val="2A7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31512" y="1700784"/>
            <a:ext cx="3529584" cy="566928"/>
          </a:xfrm>
          <a:prstGeom prst="roundRect">
            <a:avLst>
              <a:gd name="adj" fmla="val 12903"/>
            </a:avLst>
          </a:prstGeom>
          <a:solidFill>
            <a:srgbClr val="2A7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1512" y="2194560"/>
            <a:ext cx="3529584" cy="73152"/>
          </a:xfrm>
          <a:prstGeom prst="rect">
            <a:avLst/>
          </a:prstGeom>
          <a:solidFill>
            <a:srgbClr val="2A7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1512" y="1700784"/>
            <a:ext cx="35295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Robustness</a:t>
            </a:r>
          </a:p>
        </p:txBody>
      </p:sp>
      <p:pic>
        <p:nvPicPr>
          <p:cNvPr id="18" name="Picture 17" descr="robustness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864" y="2487168"/>
            <a:ext cx="2468880" cy="242066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550968" y="5175504"/>
            <a:ext cx="3090672" cy="786384"/>
          </a:xfrm>
          <a:prstGeom prst="roundRect">
            <a:avLst>
              <a:gd name="adj" fmla="val 9302"/>
            </a:avLst>
          </a:prstGeom>
          <a:solidFill>
            <a:srgbClr val="D9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0968" y="5175504"/>
            <a:ext cx="309067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A7174"/>
                </a:solidFill>
                <a:latin typeface="Arial"/>
              </a:rPr>
              <a:t>partial multi-solution  /  robust to mild noise, severe open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1312" y="1700784"/>
            <a:ext cx="3529584" cy="4462272"/>
          </a:xfrm>
          <a:prstGeom prst="roundRect">
            <a:avLst>
              <a:gd name="adj" fmla="val 2072"/>
            </a:avLst>
          </a:prstGeom>
          <a:solidFill>
            <a:srgbClr val="FFFFFF"/>
          </a:solidFill>
          <a:ln w="15240">
            <a:solidFill>
              <a:srgbClr val="2A5B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11312" y="1700784"/>
            <a:ext cx="3529584" cy="566928"/>
          </a:xfrm>
          <a:prstGeom prst="roundRect">
            <a:avLst>
              <a:gd name="adj" fmla="val 12903"/>
            </a:avLst>
          </a:prstGeom>
          <a:solidFill>
            <a:srgbClr val="2A5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11312" y="2194560"/>
            <a:ext cx="3529584" cy="73152"/>
          </a:xfrm>
          <a:prstGeom prst="rect">
            <a:avLst/>
          </a:prstGeom>
          <a:solidFill>
            <a:srgbClr val="2A5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1700784"/>
            <a:ext cx="35295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Higher dimensions</a:t>
            </a:r>
          </a:p>
        </p:txBody>
      </p:sp>
      <p:pic>
        <p:nvPicPr>
          <p:cNvPr id="25" name="Picture 24" descr="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2643922"/>
            <a:ext cx="3017520" cy="216620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430768" y="5175504"/>
            <a:ext cx="3090672" cy="786384"/>
          </a:xfrm>
          <a:prstGeom prst="roundRect">
            <a:avLst>
              <a:gd name="adj" fmla="val 9302"/>
            </a:avLst>
          </a:prstGeom>
          <a:solidFill>
            <a:srgbClr val="D9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5175504"/>
            <a:ext cx="309067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A5B87"/>
                </a:solidFill>
                <a:latin typeface="Arial"/>
              </a:rPr>
              <a:t>at 3D the CMA-ES restart family overtakes MC-ESO at 1e-10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References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43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27632"/>
            <a:ext cx="11183112" cy="449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1C11"/>
                </a:solidFill>
                <a:latin typeface="Arial"/>
              </a:rPr>
              <a:t>[1]</a:t>
            </a:r>
            <a:r>
              <a:rPr sz="1200" b="0" i="0">
                <a:solidFill>
                  <a:srgbClr val="1F2733"/>
                </a:solidFill>
                <a:latin typeface="Arial"/>
              </a:rPr>
              <a:t>   A. Auger, N. Hansen. "A restart CMA-ES with increasing population size." IEEE CEC, 2005.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77516"/>
            <a:ext cx="11183112" cy="449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1C11"/>
                </a:solidFill>
                <a:latin typeface="Arial"/>
              </a:rPr>
              <a:t>[2]</a:t>
            </a:r>
            <a:r>
              <a:rPr sz="1200" b="0" i="0">
                <a:solidFill>
                  <a:srgbClr val="1F2733"/>
                </a:solidFill>
                <a:latin typeface="Arial"/>
              </a:rPr>
              <a:t>   J. Kennedy, R. Eberhart. "Particle swarm optimization." IEEE ICNN, 1995.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27400"/>
            <a:ext cx="11183112" cy="449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1C11"/>
                </a:solidFill>
                <a:latin typeface="Arial"/>
              </a:rPr>
              <a:t>[3]</a:t>
            </a:r>
            <a:r>
              <a:rPr sz="1200" b="0" i="0">
                <a:solidFill>
                  <a:srgbClr val="1F2733"/>
                </a:solidFill>
                <a:latin typeface="Arial"/>
              </a:rPr>
              <a:t>   R. Storn, K. Price. "Differential evolution." J. Global Optimization, 1997.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77284"/>
            <a:ext cx="11183112" cy="449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1C11"/>
                </a:solidFill>
                <a:latin typeface="Arial"/>
              </a:rPr>
              <a:t>[4]</a:t>
            </a:r>
            <a:r>
              <a:rPr sz="1200" b="0" i="0">
                <a:solidFill>
                  <a:srgbClr val="1F2733"/>
                </a:solidFill>
                <a:latin typeface="Arial"/>
              </a:rPr>
              <a:t>   Y.-C. Liang, J. R. Cuevas Juárez. "A self-adaptive virus optimization algorithm." Soft Computing, 2020.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27168"/>
            <a:ext cx="11183112" cy="449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1C11"/>
                </a:solidFill>
                <a:latin typeface="Arial"/>
              </a:rPr>
              <a:t>[5]</a:t>
            </a:r>
            <a:r>
              <a:rPr sz="1200" b="0" i="0">
                <a:solidFill>
                  <a:srgbClr val="1F2733"/>
                </a:solidFill>
                <a:latin typeface="Arial"/>
              </a:rPr>
              <a:t>   J. A. Nelder, R. Mead. "A simplex method for function minimization." The Computer Journal, 1965.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77052"/>
            <a:ext cx="11183112" cy="449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1C11"/>
                </a:solidFill>
                <a:latin typeface="Arial"/>
              </a:rPr>
              <a:t>[6]</a:t>
            </a:r>
            <a:r>
              <a:rPr sz="1200" b="0" i="0">
                <a:solidFill>
                  <a:srgbClr val="1F2733"/>
                </a:solidFill>
                <a:latin typeface="Arial"/>
              </a:rPr>
              <a:t>   N. Hansen, A. Ostermeier. "Completely derandomized self-adaptation in evolution strategies." Evolutionary Computation, 2001.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26936"/>
            <a:ext cx="11183112" cy="449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1C11"/>
                </a:solidFill>
                <a:latin typeface="Arial"/>
              </a:rPr>
              <a:t>[7]</a:t>
            </a:r>
            <a:r>
              <a:rPr sz="1200" b="0" i="0">
                <a:solidFill>
                  <a:srgbClr val="1F2733"/>
                </a:solidFill>
                <a:latin typeface="Arial"/>
              </a:rPr>
              <a:t>   N. Hansen. "Benchmarking a BI-population CMA-ES on the BBOB-2009 testbed." GECCO Workshop, 2009.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6820"/>
            <a:ext cx="11183112" cy="449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1C11"/>
                </a:solidFill>
                <a:latin typeface="Arial"/>
              </a:rPr>
              <a:t>[8]</a:t>
            </a:r>
            <a:r>
              <a:rPr sz="1200" b="0" i="0">
                <a:solidFill>
                  <a:srgbClr val="1F2733"/>
                </a:solidFill>
                <a:latin typeface="Arial"/>
              </a:rPr>
              <a:t>   R. Tanabe, A. Fukunaga. "Improving SHADE using linear population size reduction." IEEE CEC, 2014.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26704"/>
            <a:ext cx="11183112" cy="449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1C11"/>
                </a:solidFill>
                <a:latin typeface="Arial"/>
              </a:rPr>
              <a:t>[9]</a:t>
            </a:r>
            <a:r>
              <a:rPr sz="1200" b="0" i="0">
                <a:solidFill>
                  <a:srgbClr val="1F2733"/>
                </a:solidFill>
                <a:latin typeface="Arial"/>
              </a:rPr>
              <a:t>   B.-Y. Qu, P. N. Suganthan, J.-J. Liang. "DE with neighborhood mutation for multimodal optimization." IEEE TEVC, 2012.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676588"/>
            <a:ext cx="11183112" cy="449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1C11"/>
                </a:solidFill>
                <a:latin typeface="Arial"/>
              </a:rPr>
              <a:t>[10]</a:t>
            </a:r>
            <a:r>
              <a:rPr sz="1200" b="0" i="0">
                <a:solidFill>
                  <a:srgbClr val="1F2733"/>
                </a:solidFill>
                <a:latin typeface="Arial"/>
              </a:rPr>
              <a:t>   N. Hansen, A. Auger, R. Ros, O. Mersmann, T. Tušar, D. Brockhoff. "COCO: comparing continuous optimizers in a black-box setting." Optim. Methods &amp; Software, 2021.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Appendix — the other baselines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44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In the full comparison; omitted from charts for legibility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2468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C1C11"/>
                </a:solidFill>
                <a:latin typeface="Arial"/>
              </a:rPr>
              <a:t>CMA-ES</a:t>
            </a:r>
            <a:r>
              <a:rPr sz="1100" b="0" i="0">
                <a:solidFill>
                  <a:srgbClr val="5B6673"/>
                </a:solidFill>
                <a:latin typeface="Arial"/>
              </a:rPr>
              <a:t>  [6]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1911095"/>
            <a:ext cx="18288" cy="566928"/>
          </a:xfrm>
          <a:prstGeom prst="rect">
            <a:avLst/>
          </a:prstGeom>
          <a:solidFill>
            <a:srgbClr val="D0D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874519"/>
            <a:ext cx="8503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733"/>
                </a:solidFill>
                <a:latin typeface="Arial"/>
              </a:rPr>
              <a:t>Plain covariance-matrix ES with multistart — the IPOP base without population doubling.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39"/>
            <a:ext cx="2468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C1C11"/>
                </a:solidFill>
                <a:latin typeface="Arial"/>
              </a:rPr>
              <a:t>BIPOP-CMA-ES</a:t>
            </a:r>
            <a:r>
              <a:rPr sz="1100" b="0" i="0">
                <a:solidFill>
                  <a:srgbClr val="5B6673"/>
                </a:solidFill>
                <a:latin typeface="Arial"/>
              </a:rPr>
              <a:t>  [7]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871215"/>
            <a:ext cx="18288" cy="566928"/>
          </a:xfrm>
          <a:prstGeom prst="rect">
            <a:avLst/>
          </a:prstGeom>
          <a:solidFill>
            <a:srgbClr val="D0D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834639"/>
            <a:ext cx="8503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733"/>
                </a:solidFill>
                <a:latin typeface="Arial"/>
              </a:rPr>
              <a:t>CMA-ES restarts alternating large / small population regimes to keep the budgets balanced.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94759"/>
            <a:ext cx="2468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C1C11"/>
                </a:solidFill>
                <a:latin typeface="Arial"/>
              </a:rPr>
              <a:t>L-SHADE</a:t>
            </a:r>
            <a:r>
              <a:rPr sz="1100" b="0" i="0">
                <a:solidFill>
                  <a:srgbClr val="5B6673"/>
                </a:solidFill>
                <a:latin typeface="Arial"/>
              </a:rPr>
              <a:t>  [8]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3831335"/>
            <a:ext cx="18288" cy="566928"/>
          </a:xfrm>
          <a:prstGeom prst="rect">
            <a:avLst/>
          </a:prstGeom>
          <a:solidFill>
            <a:srgbClr val="D0D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794759"/>
            <a:ext cx="8503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733"/>
                </a:solidFill>
                <a:latin typeface="Arial"/>
              </a:rPr>
              <a:t>Success-history adaptive DE with linear population reduction (CEC2014 winner).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54879"/>
            <a:ext cx="2468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C1C11"/>
                </a:solidFill>
                <a:latin typeface="Arial"/>
              </a:rPr>
              <a:t>NCDE</a:t>
            </a:r>
            <a:r>
              <a:rPr sz="1100" b="0" i="0">
                <a:solidFill>
                  <a:srgbClr val="5B6673"/>
                </a:solidFill>
                <a:latin typeface="Arial"/>
              </a:rPr>
              <a:t>  [9]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4791455"/>
            <a:ext cx="18288" cy="566928"/>
          </a:xfrm>
          <a:prstGeom prst="rect">
            <a:avLst/>
          </a:prstGeom>
          <a:solidFill>
            <a:srgbClr val="D0D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4754879"/>
            <a:ext cx="8503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733"/>
                </a:solidFill>
                <a:latin typeface="Arial"/>
              </a:rPr>
              <a:t>Neighborhood-based crowding DE — a niching specialist, used only for the multi-optima (PR / MMOsr) comparison.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733"/>
                </a:solidFill>
                <a:latin typeface="Arial"/>
              </a:rPr>
              <a:t>Appendix — landscape-signal measurements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50976"/>
            <a:ext cx="11185855" cy="0"/>
          </a:xfrm>
          <a:prstGeom prst="line">
            <a:avLst/>
          </a:prstGeom>
          <a:ln w="17780">
            <a:solidFill>
              <a:srgbClr val="D0D4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B6673"/>
                </a:solidFill>
                <a:latin typeface="Arial"/>
              </a:rPr>
              <a:t>45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733"/>
                </a:solidFill>
                <a:latin typeface="Arial"/>
              </a:rPr>
              <a:t>All 35 functions in BBOB category order — the diagnostic behind the channel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111831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F2733"/>
                </a:solidFill>
                <a:latin typeface="Arial"/>
              </a:rPr>
              <a:t>cond</a:t>
            </a:r>
            <a:r>
              <a:rPr sz="900" b="0" i="0">
                <a:solidFill>
                  <a:srgbClr val="5B6673"/>
                </a:solidFill>
                <a:latin typeface="Arial"/>
              </a:rPr>
              <a:t> = log10 eigenvalue ratio,</a:t>
            </a:r>
            <a:r>
              <a:rPr sz="900" b="1" i="0">
                <a:solidFill>
                  <a:srgbClr val="1F2733"/>
                </a:solidFill>
                <a:latin typeface="Arial"/>
              </a:rPr>
              <a:t>   PR</a:t>
            </a:r>
            <a:r>
              <a:rPr sz="900" b="0" i="0">
                <a:solidFill>
                  <a:srgbClr val="5B6673"/>
                </a:solidFill>
                <a:latin typeface="Arial"/>
              </a:rPr>
              <a:t> = participation ratio [1,2],</a:t>
            </a:r>
            <a:r>
              <a:rPr sz="900" b="1" i="0">
                <a:solidFill>
                  <a:srgbClr val="1F2733"/>
                </a:solidFill>
                <a:latin typeface="Arial"/>
              </a:rPr>
              <a:t>   algA</a:t>
            </a:r>
            <a:r>
              <a:rPr sz="900" b="0" i="0">
                <a:solidFill>
                  <a:srgbClr val="5B6673"/>
                </a:solidFill>
                <a:latin typeface="Arial"/>
              </a:rPr>
              <a:t> = axis alignment [.71,1],</a:t>
            </a:r>
            <a:r>
              <a:rPr sz="900" b="1" i="0">
                <a:solidFill>
                  <a:srgbClr val="1F2733"/>
                </a:solidFill>
                <a:latin typeface="Arial"/>
              </a:rPr>
              <a:t>   offd</a:t>
            </a:r>
            <a:r>
              <a:rPr sz="900" b="0" i="0">
                <a:solidFill>
                  <a:srgbClr val="5B6673"/>
                </a:solidFill>
                <a:latin typeface="Arial"/>
              </a:rPr>
              <a:t> = corr. off-diag RMS [0,1],</a:t>
            </a:r>
            <a:r>
              <a:rPr sz="900" b="1" i="0">
                <a:solidFill>
                  <a:srgbClr val="1F2733"/>
                </a:solidFill>
                <a:latin typeface="Arial"/>
              </a:rPr>
              <a:t>   divs</a:t>
            </a:r>
            <a:r>
              <a:rPr sz="900" b="0" i="0">
                <a:solidFill>
                  <a:srgbClr val="5B6673"/>
                </a:solidFill>
                <a:latin typeface="Arial"/>
              </a:rPr>
              <a:t> = variance/span,</a:t>
            </a:r>
            <a:r>
              <a:rPr sz="900" b="1" i="0">
                <a:solidFill>
                  <a:srgbClr val="1F2733"/>
                </a:solidFill>
                <a:latin typeface="Arial"/>
              </a:rPr>
              <a:t>   kurt</a:t>
            </a:r>
            <a:r>
              <a:rPr sz="900" b="0" i="0">
                <a:solidFill>
                  <a:srgbClr val="5B6673"/>
                </a:solidFill>
                <a:latin typeface="Arial"/>
              </a:rPr>
              <a:t> = excess kurtosis,</a:t>
            </a:r>
            <a:r>
              <a:rPr sz="900" b="1" i="0">
                <a:solidFill>
                  <a:srgbClr val="1F2733"/>
                </a:solidFill>
                <a:latin typeface="Arial"/>
              </a:rPr>
              <a:t>   mgap</a:t>
            </a:r>
            <a:r>
              <a:rPr sz="900" b="0" i="0">
                <a:solidFill>
                  <a:srgbClr val="5B6673"/>
                </a:solidFill>
                <a:latin typeface="Arial"/>
              </a:rPr>
              <a:t> = max normalized gap,</a:t>
            </a:r>
            <a:r>
              <a:rPr sz="900" b="1" i="0">
                <a:solidFill>
                  <a:srgbClr val="1F2733"/>
                </a:solidFill>
                <a:latin typeface="Arial"/>
              </a:rPr>
              <a:t>   nelt</a:t>
            </a:r>
            <a:r>
              <a:rPr sz="900" b="0" i="0">
                <a:solidFill>
                  <a:srgbClr val="5B6673"/>
                </a:solidFill>
                <a:latin typeface="Arial"/>
              </a:rPr>
              <a:t> = mean niche count,</a:t>
            </a:r>
            <a:r>
              <a:rPr sz="900" b="1" i="0">
                <a:solidFill>
                  <a:srgbClr val="1F2733"/>
                </a:solidFill>
                <a:latin typeface="Arial"/>
              </a:rPr>
              <a:t>   spil</a:t>
            </a:r>
            <a:r>
              <a:rPr sz="900" b="0" i="0">
                <a:solidFill>
                  <a:srgbClr val="5B6673"/>
                </a:solidFill>
                <a:latin typeface="Arial"/>
              </a:rPr>
              <a:t> = spillover count</a:t>
            </a:r>
            <a:r>
              <a:rPr sz="900" b="1" i="0">
                <a:solidFill>
                  <a:srgbClr val="1F2733"/>
                </a:solidFill>
                <a:latin typeface="Arial"/>
              </a:rPr>
              <a:t>      values</a:t>
            </a:r>
            <a:r>
              <a:rPr sz="900" b="0" i="0">
                <a:solidFill>
                  <a:srgbClr val="5B6673"/>
                </a:solidFill>
                <a:latin typeface="Arial"/>
              </a:rPr>
              <a:t> = median over exploration generations (σ &gt; drilling)</a:t>
            </a:r>
          </a:p>
          <a:p>
            <a:pPr algn="l">
              <a:spcBef>
                <a:spcPts val="300"/>
              </a:spcBef>
            </a:pPr>
            <a:r>
              <a:rPr sz="900" b="1" i="0">
                <a:solidFill>
                  <a:srgbClr val="1F2733"/>
                </a:solidFill>
                <a:latin typeface="Arial"/>
              </a:rPr>
              <a:t>highlighted cells</a:t>
            </a:r>
            <a:r>
              <a:rPr sz="900" b="0" i="0">
                <a:solidFill>
                  <a:srgbClr val="5B6673"/>
                </a:solidFill>
                <a:latin typeface="Arial"/>
              </a:rPr>
              <a:t> = router triggers:   </a:t>
            </a:r>
            <a:r>
              <a:rPr sz="900" b="1" i="0">
                <a:solidFill>
                  <a:srgbClr val="7C1C11"/>
                </a:solidFill>
                <a:latin typeface="Arial"/>
              </a:rPr>
              <a:t>cond ≥ 3.0 → droplet</a:t>
            </a:r>
            <a:r>
              <a:rPr sz="900" b="0" i="0">
                <a:solidFill>
                  <a:srgbClr val="5B6673"/>
                </a:solidFill>
                <a:latin typeface="Arial"/>
              </a:rPr>
              <a:t>  (checked first)   </a:t>
            </a:r>
            <a:r>
              <a:rPr sz="900" b="1" i="0">
                <a:solidFill>
                  <a:srgbClr val="2E6DA4"/>
                </a:solidFill>
                <a:latin typeface="Arial"/>
              </a:rPr>
              <a:t>algA &gt; 0.965 ∧ mgap &gt; 0.36 → close</a:t>
            </a:r>
            <a:r>
              <a:rPr sz="900" b="0" i="0">
                <a:solidFill>
                  <a:srgbClr val="5B6673"/>
                </a:solidFill>
                <a:latin typeface="Arial"/>
              </a:rPr>
              <a:t>   else → </a:t>
            </a:r>
            <a:r>
              <a:rPr sz="900" b="1" i="0">
                <a:solidFill>
                  <a:srgbClr val="2F6B3E"/>
                </a:solidFill>
                <a:latin typeface="Arial"/>
              </a:rPr>
              <a:t>keep-air (= base)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1907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5B6673"/>
                </a:solidFill>
                <a:latin typeface="Arial"/>
              </a:rPr>
              <a:t>base MC-ESO (unmodified) / dim 2 / n = 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48256"/>
            <a:ext cx="5490972" cy="181051"/>
          </a:xfrm>
          <a:prstGeom prst="rect">
            <a:avLst/>
          </a:prstGeom>
          <a:solidFill>
            <a:srgbClr val="EDEFF2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2048256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5B6673"/>
                </a:solidFill>
                <a:latin typeface="Arial"/>
              </a:rP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2536" y="2048256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5B6673"/>
                </a:solidFill>
                <a:latin typeface="Arial"/>
              </a:rPr>
              <a:t>route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04825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7C1C11"/>
                </a:solidFill>
                <a:latin typeface="Arial"/>
              </a:rPr>
              <a:t>cond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1508" y="204825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5B6673"/>
                </a:solidFill>
                <a:latin typeface="Arial"/>
              </a:rPr>
              <a:t>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04825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algA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8748" y="204825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5B6673"/>
                </a:solidFill>
                <a:latin typeface="Arial"/>
              </a:rPr>
              <a:t>offd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204825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5B6673"/>
                </a:solidFill>
                <a:latin typeface="Arial"/>
              </a:rPr>
              <a:t>divs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5988" y="204825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5B6673"/>
                </a:solidFill>
                <a:latin typeface="Arial"/>
              </a:rPr>
              <a:t>kurt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204825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mgap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3228" y="204825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5B6673"/>
                </a:solidFill>
                <a:latin typeface="Arial"/>
              </a:rPr>
              <a:t>nelt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204825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5B6673"/>
                </a:solidFill>
                <a:latin typeface="Arial"/>
              </a:rPr>
              <a:t>spil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229307"/>
            <a:ext cx="5490972" cy="181051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229307"/>
            <a:ext cx="53446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Separable — F01–05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410358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2410358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F01-Sphere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02536" y="2410358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32888" y="241035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1508" y="241035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1.71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241035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8748" y="241035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0.268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87368" y="241035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5988" y="241035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4608" y="241035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0.301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3228" y="241035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41848" y="241035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4.0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591409"/>
            <a:ext cx="5490972" cy="181051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" y="2591409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F02-EllipsoidalSep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02536" y="2591409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Arial"/>
              </a:rPr>
              <a:t>droplet?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96312" y="2591409"/>
            <a:ext cx="388620" cy="181051"/>
          </a:xfrm>
          <a:prstGeom prst="rect">
            <a:avLst/>
          </a:prstGeom>
          <a:solidFill>
            <a:srgbClr val="F5E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32888" y="259140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7C1C11"/>
                </a:solidFill>
                <a:latin typeface="Arial"/>
              </a:rPr>
              <a:t>5.62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1508" y="259140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73552" y="2591409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0128" y="259140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1.000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98748" y="259140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0.406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87368" y="259140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75988" y="259140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1.24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28032" y="2591409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64608" y="259140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0.380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3228" y="259140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1.95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41848" y="259140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3.4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2772460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9496" y="2772460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F03-RastriginSep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02536" y="2772460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-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32888" y="277246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21508" y="277246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1.19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73552" y="2772460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10128" y="277246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0.994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98748" y="277246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0.294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87368" y="277246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75988" y="277246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28032" y="2772460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64608" y="277246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0.397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53228" y="277246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41848" y="277246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4.1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2953511"/>
            <a:ext cx="5490972" cy="181051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9496" y="2953511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F04-BucheRastrigin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02536" y="2953511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close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32888" y="295351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21508" y="295351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1.25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73552" y="2953511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10128" y="295351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0.988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98748" y="295351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0.315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87368" y="295351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75988" y="295351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0.48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28032" y="2953511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64608" y="295351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0.411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53228" y="295351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2.03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41848" y="295351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7.5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3134562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9496" y="3134562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F05-LinearSlope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02536" y="3134562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-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32888" y="313456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2.28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21508" y="313456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73552" y="3134562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310128" y="313456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0.999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98748" y="313456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0.437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87368" y="313456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75988" y="313456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−0.09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64608" y="313456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0.290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53228" y="313456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1.71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41848" y="313456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4.2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3315613"/>
            <a:ext cx="5490972" cy="181051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76072" y="3315613"/>
            <a:ext cx="53446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Moderate — F06–09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02920" y="3496664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9496" y="3496664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F06-AttractiveSector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02536" y="3496664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close?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532888" y="349666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1.26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921508" y="349666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1.11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10128" y="349666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0.957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98748" y="349666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0.698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087368" y="349666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75988" y="349666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0.43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64608" y="349666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0.349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253228" y="349666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1.48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41848" y="349666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2.9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2920" y="3677715"/>
            <a:ext cx="5490972" cy="181051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39496" y="3677715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F07-StepEllipsoidal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002536" y="3677715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-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532888" y="367771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1.57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921508" y="367771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310128" y="367771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0.781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98748" y="367771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0.944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087368" y="367771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475988" y="367771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−0.62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64608" y="367771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0.241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253228" y="367771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41848" y="367771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5.0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02920" y="3858766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39496" y="3858766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F08-Rosenbrock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002536" y="3858766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-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532888" y="385876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2.56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921508" y="385876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10128" y="385876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0.897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698748" y="385876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0.986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087368" y="385876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475988" y="385876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−0.18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64608" y="385876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0.272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253228" y="385876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2.12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41848" y="385876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3.4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02920" y="4039817"/>
            <a:ext cx="5490972" cy="181051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39496" y="4039817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F09-RosenbrockRot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002536" y="4039817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-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532888" y="403981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2.55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921508" y="403981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310128" y="403981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0.962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698748" y="403981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0.963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087368" y="403981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475988" y="403981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−0.07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864608" y="403981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0.293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253228" y="403981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2.00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641848" y="403981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3.4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02920" y="4220868"/>
            <a:ext cx="5490972" cy="181051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76072" y="4220868"/>
            <a:ext cx="53446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Ill-conditioned — F10–14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02920" y="4401919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39496" y="4401919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F10-EllipsoidalRot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002536" y="4401919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Arial"/>
              </a:rPr>
              <a:t>droplet?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496312" y="4401919"/>
            <a:ext cx="388620" cy="181051"/>
          </a:xfrm>
          <a:prstGeom prst="rect">
            <a:avLst/>
          </a:prstGeom>
          <a:solidFill>
            <a:srgbClr val="F5E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532888" y="440191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7C1C11"/>
                </a:solidFill>
                <a:latin typeface="Arial"/>
              </a:rPr>
              <a:t>5.53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921508" y="440191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273552" y="4401919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310128" y="440191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0.977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698748" y="440191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1.000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087368" y="440191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0.009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475988" y="440191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−0.28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864608" y="440191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0.243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253228" y="440191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1.96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641848" y="440191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3.1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02920" y="4582970"/>
            <a:ext cx="5490972" cy="181051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39496" y="4582970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F11-Discus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002536" y="4582970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Arial"/>
              </a:rPr>
              <a:t>droplet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496312" y="4582970"/>
            <a:ext cx="388620" cy="181051"/>
          </a:xfrm>
          <a:prstGeom prst="rect">
            <a:avLst/>
          </a:prstGeom>
          <a:solidFill>
            <a:srgbClr val="F5E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532888" y="458297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7C1C11"/>
                </a:solidFill>
                <a:latin typeface="Arial"/>
              </a:rPr>
              <a:t>5.42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921508" y="458297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310128" y="458297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0.953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698748" y="458297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1.000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087368" y="458297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0.009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475988" y="458297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−0.26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864608" y="458297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0.239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253228" y="458297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1.99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641848" y="458297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3.2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02920" y="4764021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39496" y="4764021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F12-BentCigar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002536" y="4764021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Arial"/>
              </a:rPr>
              <a:t>droplet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496312" y="4764021"/>
            <a:ext cx="388620" cy="181051"/>
          </a:xfrm>
          <a:prstGeom prst="rect">
            <a:avLst/>
          </a:prstGeom>
          <a:solidFill>
            <a:srgbClr val="F5E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32888" y="476402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7C1C11"/>
                </a:solidFill>
                <a:latin typeface="Arial"/>
              </a:rPr>
              <a:t>5.64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921508" y="476402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1.00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273552" y="4764021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310128" y="476402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1.000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698748" y="476402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0.956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087368" y="476402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0.009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475988" y="476402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−0.29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864608" y="476402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0.271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253228" y="476402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2.09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641848" y="476402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3.8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502920" y="4945072"/>
            <a:ext cx="5490972" cy="181051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39496" y="4945072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F13-SharpRidge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002536" y="4945072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Arial"/>
              </a:rPr>
              <a:t>droplet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496312" y="4945072"/>
            <a:ext cx="388620" cy="181051"/>
          </a:xfrm>
          <a:prstGeom prst="rect">
            <a:avLst/>
          </a:prstGeom>
          <a:solidFill>
            <a:srgbClr val="F5E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532888" y="494507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7C1C11"/>
                </a:solidFill>
                <a:latin typeface="Arial"/>
              </a:rPr>
              <a:t>4.89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921508" y="494507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1.00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310128" y="494507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0.956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698748" y="494507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1.000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087368" y="494507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0.005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475988" y="494507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0.13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864608" y="494507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0.257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253228" y="494507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1.67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641848" y="494507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6.0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02920" y="5126123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539496" y="5126123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F14-DiffPowers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002536" y="5126123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Arial"/>
              </a:rPr>
              <a:t>droplet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496312" y="5126123"/>
            <a:ext cx="388620" cy="181051"/>
          </a:xfrm>
          <a:prstGeom prst="rect">
            <a:avLst/>
          </a:prstGeom>
          <a:solidFill>
            <a:srgbClr val="F5E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2532888" y="5126123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7C1C11"/>
                </a:solidFill>
                <a:latin typeface="Arial"/>
              </a:rPr>
              <a:t>3.34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2921508" y="5126123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1.00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310128" y="5126123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0.965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698748" y="5126123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0.993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087368" y="5126123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475988" y="5126123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−0.34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864608" y="5126123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0.246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253228" y="5126123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1.50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641848" y="5126123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3.6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02920" y="5307174"/>
            <a:ext cx="5490972" cy="181051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576072" y="5307174"/>
            <a:ext cx="53446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Multimodal — F15–19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502920" y="5488225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539496" y="5488225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F15-RastriginRot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002536" y="5488225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F6B3E"/>
                </a:solidFill>
                <a:latin typeface="Arial"/>
              </a:rPr>
              <a:t>keep-air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532888" y="548822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1.07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921508" y="548822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1.18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3310128" y="548822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0.861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698748" y="548822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0.774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087368" y="548822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0.018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475988" y="548822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0.01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4864608" y="548822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0.343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253228" y="548822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2.33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5641848" y="548822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4.4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02920" y="5669276"/>
            <a:ext cx="5490972" cy="181051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539496" y="5669276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F16-Weierstrass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2002536" y="5669276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close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532888" y="566927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1.63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921508" y="566927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1.05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3273552" y="5669276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310128" y="566927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0.994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3698748" y="566927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0.486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4087368" y="566927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0.050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4475988" y="566927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0.21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828032" y="5669276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4864608" y="566927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0.427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253228" y="566927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3.35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5641848" y="566927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4.1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02920" y="5850327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539496" y="5850327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F17-SchafferF7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2002536" y="5850327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F6B3E"/>
                </a:solidFill>
                <a:latin typeface="Arial"/>
              </a:rPr>
              <a:t>keep-air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532888" y="585032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0.95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921508" y="585032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1.23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3273552" y="5850327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3310128" y="585032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0.974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3698748" y="585032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0.474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4087368" y="585032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0.003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4475988" y="585032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0.02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4864608" y="585032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0.290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5253228" y="585032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1.72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5641848" y="585032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2.8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502920" y="6031378"/>
            <a:ext cx="5490972" cy="181051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39496" y="6031378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F18-SchafferF7ill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2002536" y="6031378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?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2532888" y="603137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2.63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21508" y="603137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1.00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3273552" y="6031378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3310128" y="603137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0.974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3698748" y="603137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0.978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087368" y="603137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0.008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475988" y="603137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−0.24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4864608" y="603137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0.268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5253228" y="603137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1.95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5641848" y="603137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2.6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502920" y="6212429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539496" y="6212429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F19-GriewankRosenbrock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2002536" y="6212429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F6B3E"/>
                </a:solidFill>
                <a:latin typeface="Arial"/>
              </a:rPr>
              <a:t>keep-air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532888" y="621242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0.73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2921508" y="621242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1.38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3310128" y="621242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0.951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3698748" y="621242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0.513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4087368" y="621242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0.101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475988" y="621242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−0.14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864608" y="621242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0.311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5253228" y="621242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4.29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5641848" y="621242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5.2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502920" y="6393480"/>
            <a:ext cx="5490972" cy="0"/>
          </a:xfrm>
          <a:prstGeom prst="line">
            <a:avLst/>
          </a:prstGeom>
          <a:ln w="12700">
            <a:solidFill>
              <a:srgbClr val="D9DC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Rectangle 276"/>
          <p:cNvSpPr/>
          <p:nvPr/>
        </p:nvSpPr>
        <p:spPr>
          <a:xfrm>
            <a:off x="6199632" y="2048256"/>
            <a:ext cx="5490972" cy="181051"/>
          </a:xfrm>
          <a:prstGeom prst="rect">
            <a:avLst/>
          </a:prstGeom>
          <a:solidFill>
            <a:srgbClr val="EDEFF2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6236208" y="2048256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5B6673"/>
                </a:solidFill>
                <a:latin typeface="Arial"/>
              </a:rPr>
              <a:t>function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7699248" y="2048256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5B6673"/>
                </a:solidFill>
                <a:latin typeface="Arial"/>
              </a:rPr>
              <a:t>route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8229600" y="204825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7C1C11"/>
                </a:solidFill>
                <a:latin typeface="Arial"/>
              </a:rPr>
              <a:t>cond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8618220" y="204825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5B6673"/>
                </a:solidFill>
                <a:latin typeface="Arial"/>
              </a:rPr>
              <a:t>PR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9006840" y="204825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algA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9395460" y="204825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5B6673"/>
                </a:solidFill>
                <a:latin typeface="Arial"/>
              </a:rPr>
              <a:t>offd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9784080" y="204825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5B6673"/>
                </a:solidFill>
                <a:latin typeface="Arial"/>
              </a:rPr>
              <a:t>divs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0172700" y="204825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5B6673"/>
                </a:solidFill>
                <a:latin typeface="Arial"/>
              </a:rPr>
              <a:t>kurt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0561320" y="204825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mgap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0949940" y="204825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5B6673"/>
                </a:solidFill>
                <a:latin typeface="Arial"/>
              </a:rPr>
              <a:t>nelt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1338560" y="204825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5B6673"/>
                </a:solidFill>
                <a:latin typeface="Arial"/>
              </a:rPr>
              <a:t>spil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6199632" y="2229307"/>
            <a:ext cx="5490972" cy="181051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6272784" y="2229307"/>
            <a:ext cx="53446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Weak structure — F20–24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6199632" y="2410358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6236208" y="2410358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F20-Schwefel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7699248" y="2410358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F6B3E"/>
                </a:solidFill>
                <a:latin typeface="Arial"/>
              </a:rPr>
              <a:t>keep-air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8229600" y="241035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1.16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8618220" y="241035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1.14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9006840" y="241035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0.956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9395460" y="241035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0.691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784080" y="241035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0.024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0172700" y="241035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−0.27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0561320" y="241035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0.313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0949940" y="241035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2.38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1338560" y="241035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6.5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6199632" y="2591409"/>
            <a:ext cx="5490972" cy="181051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6236208" y="2591409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F21-Gallagher101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7699248" y="2591409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-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8229600" y="259140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1.31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8618220" y="259140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1.10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9006840" y="259140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0.799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9395460" y="259140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0.897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9784080" y="259140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0.017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0172700" y="259140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−0.48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0561320" y="259140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0.275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0949940" y="259140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2.56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1338560" y="259140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4.0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6199632" y="2772460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6236208" y="2772460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F22-Gallagher21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7699248" y="2772460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-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229600" y="277246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2.74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8618220" y="277246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1.00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9006840" y="277246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0.900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9395460" y="277246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0.993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9784080" y="277246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0.012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10172700" y="277246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−0.56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0561320" y="277246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0.239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0949940" y="277246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2.29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11338560" y="277246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4.1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6199632" y="2953511"/>
            <a:ext cx="5490972" cy="181051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6236208" y="2953511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F23-Katsuura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7699248" y="2953511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-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8229600" y="295351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0.67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8618220" y="295351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1.43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9006840" y="295351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0.912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9395460" y="295351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0.435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9784080" y="295351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0.144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10172700" y="295351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−0.09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0561320" y="295351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0.282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10949940" y="295351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5.49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11338560" y="295351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3.4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6199632" y="3134562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6236208" y="3134562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F24-LunacekRastrigin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7699248" y="3134562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F6B3E"/>
                </a:solidFill>
                <a:latin typeface="Arial"/>
              </a:rPr>
              <a:t>keep-air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8229600" y="313456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0.64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8618220" y="313456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1.47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9006840" y="313456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0.876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9395460" y="313456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0.498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9784080" y="313456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0.076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10172700" y="313456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0.21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10561320" y="313456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0.325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0949940" y="313456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4.31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11338560" y="313456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13.1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6199632" y="3315613"/>
            <a:ext cx="5490972" cy="181051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6272784" y="3315613"/>
            <a:ext cx="53446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Custom (multi-optimum) — C01–11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6199632" y="3496664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6236208" y="3496664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C01-Himmelblau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7699248" y="3496664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-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8229600" y="349666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0.83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8618220" y="349666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1.30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9006840" y="349666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0.933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9395460" y="349666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0.547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9784080" y="349666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0.001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10172700" y="349666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1.32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10524744" y="3496664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10561320" y="349666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0.603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10949940" y="349666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1.81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11338560" y="349666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2.4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6199632" y="3677715"/>
            <a:ext cx="5490972" cy="181051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6236208" y="3677715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C02-SixHumpCamel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7699248" y="3677715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-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8229600" y="367771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1.28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8618220" y="367771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1.21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8970264" y="3677715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9006840" y="367771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0.980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9395460" y="367771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0.609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9784080" y="367771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0.053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10172700" y="367771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−0.56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10524744" y="3677715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10561320" y="367771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0.574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10949940" y="367771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2.19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1338560" y="3677715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3.6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6199632" y="3858766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6236208" y="3858766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C03-Shubert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7699248" y="3858766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-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8229600" y="385876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0.65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8618220" y="385876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1.45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9006840" y="385876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0.940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9395460" y="385876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0.385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9784080" y="385876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0.038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10172700" y="385876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1.15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10524744" y="3858766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10561320" y="385876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0.533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0949940" y="385876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3.00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11338560" y="3858766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3.5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6199632" y="4039817"/>
            <a:ext cx="5490972" cy="181051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6236208" y="4039817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C04-FiveWell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7699248" y="4039817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-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8229600" y="403981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0.46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8618220" y="403981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1.62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9006840" y="403981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0.915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9395460" y="403981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0.309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9784080" y="403981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0.002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10172700" y="403981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−0.13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10561320" y="403981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0.310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10949940" y="403981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1.99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11338560" y="4039817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3.5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6199632" y="4220868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6236208" y="4220868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C05-Eggholder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7699248" y="4220868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F6B3E"/>
                </a:solidFill>
                <a:latin typeface="Arial"/>
              </a:rPr>
              <a:t>keep-air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8229600" y="422086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1.33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8618220" y="422086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1.12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9006840" y="422086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0.823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9395460" y="422086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0.754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9784080" y="422086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0.001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10172700" y="422086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0.75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10524744" y="4220868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10561320" y="422086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0.394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10949940" y="422086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1.96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11338560" y="4220868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11.6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6199632" y="4401919"/>
            <a:ext cx="5490972" cy="181051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6236208" y="4401919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C06-Michalewicz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7699248" y="4401919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-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8229600" y="440191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0.62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8618220" y="440191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1.46</a:t>
            </a:r>
          </a:p>
        </p:txBody>
      </p:sp>
      <p:sp>
        <p:nvSpPr>
          <p:cNvPr id="423" name="Rectangle 422"/>
          <p:cNvSpPr/>
          <p:nvPr/>
        </p:nvSpPr>
        <p:spPr>
          <a:xfrm>
            <a:off x="8970264" y="4401919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TextBox 423"/>
          <p:cNvSpPr txBox="1"/>
          <p:nvPr/>
        </p:nvSpPr>
        <p:spPr>
          <a:xfrm>
            <a:off x="9006840" y="440191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0.971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395460" y="440191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0.255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9784080" y="440191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0.002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10172700" y="440191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0.44</a:t>
            </a:r>
          </a:p>
        </p:txBody>
      </p:sp>
      <p:sp>
        <p:nvSpPr>
          <p:cNvPr id="428" name="Rectangle 427"/>
          <p:cNvSpPr/>
          <p:nvPr/>
        </p:nvSpPr>
        <p:spPr>
          <a:xfrm>
            <a:off x="10524744" y="4401919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TextBox 428"/>
          <p:cNvSpPr txBox="1"/>
          <p:nvPr/>
        </p:nvSpPr>
        <p:spPr>
          <a:xfrm>
            <a:off x="10561320" y="440191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0.363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10949940" y="440191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2.15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11338560" y="4401919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3.9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6199632" y="4582970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6236208" y="4582970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C07-BukinN6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7699248" y="4582970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-</a:t>
            </a:r>
          </a:p>
        </p:txBody>
      </p:sp>
      <p:sp>
        <p:nvSpPr>
          <p:cNvPr id="435" name="Rectangle 434"/>
          <p:cNvSpPr/>
          <p:nvPr/>
        </p:nvSpPr>
        <p:spPr>
          <a:xfrm>
            <a:off x="8193024" y="4582970"/>
            <a:ext cx="388620" cy="181051"/>
          </a:xfrm>
          <a:prstGeom prst="rect">
            <a:avLst/>
          </a:prstGeom>
          <a:solidFill>
            <a:srgbClr val="F5E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8229600" y="458297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7C1C11"/>
                </a:solidFill>
                <a:latin typeface="Arial"/>
              </a:rPr>
              <a:t>4.15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8618220" y="458297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1.00</a:t>
            </a:r>
          </a:p>
        </p:txBody>
      </p:sp>
      <p:sp>
        <p:nvSpPr>
          <p:cNvPr id="438" name="Rectangle 437"/>
          <p:cNvSpPr/>
          <p:nvPr/>
        </p:nvSpPr>
        <p:spPr>
          <a:xfrm>
            <a:off x="8970264" y="4582970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9006840" y="458297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0.993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9395460" y="458297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0.992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9784080" y="458297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0.001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10172700" y="458297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1.26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10561320" y="458297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0.335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10949940" y="458297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1.67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11338560" y="4582970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13.0</a:t>
            </a:r>
          </a:p>
        </p:txBody>
      </p:sp>
      <p:sp>
        <p:nvSpPr>
          <p:cNvPr id="446" name="Rectangle 445"/>
          <p:cNvSpPr/>
          <p:nvPr/>
        </p:nvSpPr>
        <p:spPr>
          <a:xfrm>
            <a:off x="6199632" y="4764021"/>
            <a:ext cx="5490972" cy="181051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TextBox 446"/>
          <p:cNvSpPr txBox="1"/>
          <p:nvPr/>
        </p:nvSpPr>
        <p:spPr>
          <a:xfrm>
            <a:off x="6236208" y="4764021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C08-StyblinskiTang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7699248" y="4764021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-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8229600" y="476402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0.49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8618220" y="476402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1.59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9006840" y="476402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0.935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9395460" y="476402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0.313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9784080" y="476402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0.001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10172700" y="476402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0.79</a:t>
            </a:r>
          </a:p>
        </p:txBody>
      </p:sp>
      <p:sp>
        <p:nvSpPr>
          <p:cNvPr id="455" name="Rectangle 454"/>
          <p:cNvSpPr/>
          <p:nvPr/>
        </p:nvSpPr>
        <p:spPr>
          <a:xfrm>
            <a:off x="10524744" y="4764021"/>
            <a:ext cx="388620" cy="181051"/>
          </a:xfrm>
          <a:prstGeom prst="rect">
            <a:avLst/>
          </a:prstGeom>
          <a:solidFill>
            <a:srgbClr val="DF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10561320" y="476402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E6DA4"/>
                </a:solidFill>
                <a:latin typeface="Arial"/>
              </a:rPr>
              <a:t>0.415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10949940" y="476402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1.65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11338560" y="4764021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3.9</a:t>
            </a:r>
          </a:p>
        </p:txBody>
      </p:sp>
      <p:sp>
        <p:nvSpPr>
          <p:cNvPr id="459" name="Rectangle 458"/>
          <p:cNvSpPr/>
          <p:nvPr/>
        </p:nvSpPr>
        <p:spPr>
          <a:xfrm>
            <a:off x="6199632" y="4945072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TextBox 459"/>
          <p:cNvSpPr txBox="1"/>
          <p:nvPr/>
        </p:nvSpPr>
        <p:spPr>
          <a:xfrm>
            <a:off x="6236208" y="4945072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C09-Easom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7699248" y="4945072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-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8229600" y="494507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0.32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8618220" y="494507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1.78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9006840" y="494507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0.873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9395460" y="494507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0.252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9784080" y="494507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0.250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10172700" y="494507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−0.73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10561320" y="494507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0.252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10949940" y="494507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5.30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11338560" y="4945072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7.6</a:t>
            </a:r>
          </a:p>
        </p:txBody>
      </p:sp>
      <p:sp>
        <p:nvSpPr>
          <p:cNvPr id="471" name="Rectangle 470"/>
          <p:cNvSpPr/>
          <p:nvPr/>
        </p:nvSpPr>
        <p:spPr>
          <a:xfrm>
            <a:off x="6199632" y="5126123"/>
            <a:ext cx="5490972" cy="181051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TextBox 471"/>
          <p:cNvSpPr txBox="1"/>
          <p:nvPr/>
        </p:nvSpPr>
        <p:spPr>
          <a:xfrm>
            <a:off x="6236208" y="5126123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C10-SchafferN2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7699248" y="5126123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B6673"/>
                </a:solidFill>
                <a:latin typeface="Arial"/>
              </a:rPr>
              <a:t>-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8229600" y="5126123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0.34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8618220" y="5126123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1.76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9006840" y="5126123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0.894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9395460" y="5126123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0.258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9784080" y="5126123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0.031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10172700" y="5126123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−0.50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10561320" y="5126123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0.248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10949940" y="5126123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2.72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11338560" y="5126123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4.0</a:t>
            </a:r>
          </a:p>
        </p:txBody>
      </p:sp>
      <p:sp>
        <p:nvSpPr>
          <p:cNvPr id="483" name="Rectangle 482"/>
          <p:cNvSpPr/>
          <p:nvPr/>
        </p:nvSpPr>
        <p:spPr>
          <a:xfrm>
            <a:off x="6199632" y="5307174"/>
            <a:ext cx="5490972" cy="1810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TextBox 483"/>
          <p:cNvSpPr txBox="1"/>
          <p:nvPr/>
        </p:nvSpPr>
        <p:spPr>
          <a:xfrm>
            <a:off x="6236208" y="5307174"/>
            <a:ext cx="138988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F2733"/>
                </a:solidFill>
                <a:latin typeface="Arial"/>
              </a:rPr>
              <a:t>C11-DeJongF5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7699248" y="5307174"/>
            <a:ext cx="457200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2F6B3E"/>
                </a:solidFill>
                <a:latin typeface="Arial"/>
              </a:rPr>
              <a:t>keep-air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8229600" y="530717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0.54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8618220" y="530717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1.53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9006840" y="530717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0.951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9395460" y="530717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0.300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9784080" y="530717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0.006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10172700" y="530717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−0.07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10561320" y="530717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0.340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10949940" y="530717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2.68</a:t>
            </a:r>
          </a:p>
        </p:txBody>
      </p:sp>
      <p:sp>
        <p:nvSpPr>
          <p:cNvPr id="494" name="TextBox 493"/>
          <p:cNvSpPr txBox="1"/>
          <p:nvPr/>
        </p:nvSpPr>
        <p:spPr>
          <a:xfrm>
            <a:off x="11338560" y="5307174"/>
            <a:ext cx="315468" cy="181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F2733"/>
                </a:solidFill>
                <a:latin typeface="Arial"/>
              </a:rPr>
              <a:t>7.8</a:t>
            </a:r>
          </a:p>
        </p:txBody>
      </p:sp>
      <p:cxnSp>
        <p:nvCxnSpPr>
          <p:cNvPr id="495" name="Connector 494"/>
          <p:cNvCxnSpPr/>
          <p:nvPr/>
        </p:nvCxnSpPr>
        <p:spPr>
          <a:xfrm>
            <a:off x="6199632" y="5488225"/>
            <a:ext cx="5490972" cy="0"/>
          </a:xfrm>
          <a:prstGeom prst="line">
            <a:avLst/>
          </a:prstGeom>
          <a:ln w="12700">
            <a:solidFill>
              <a:srgbClr val="D9DC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